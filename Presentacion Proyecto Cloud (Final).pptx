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66" d="100"/>
          <a:sy n="166" d="100"/>
        </p:scale>
        <p:origin x="81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Aparicio</a:t>
            </a:r>
            <a:r>
              <a:rPr spc="75" dirty="0"/>
              <a:t> </a:t>
            </a:r>
            <a:r>
              <a:rPr dirty="0"/>
              <a:t>Llanquipacha</a:t>
            </a:r>
            <a:r>
              <a:rPr spc="295" dirty="0"/>
              <a:t> </a:t>
            </a:r>
            <a:r>
              <a:rPr spc="-10" dirty="0"/>
              <a:t>(COM610)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Semestre</a:t>
            </a:r>
            <a:r>
              <a:rPr spc="70" dirty="0"/>
              <a:t> </a:t>
            </a:r>
            <a:r>
              <a:rPr dirty="0"/>
              <a:t>2-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‹Nº›</a:t>
            </a:fld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44912" y="30450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65295" y="30410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43097" y="30410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4681" y="3034715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31512" y="30410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86618" y="30474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97717" y="30410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73918" y="303471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40123" y="3034715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63922" y="30410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40123" y="30728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6340" y="303471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651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387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34715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0"/>
            <a:ext cx="5760085" cy="313690"/>
          </a:xfrm>
          <a:custGeom>
            <a:avLst/>
            <a:gdLst/>
            <a:ahLst/>
            <a:cxnLst/>
            <a:rect l="l" t="t" r="r" b="b"/>
            <a:pathLst>
              <a:path w="5760085" h="313690">
                <a:moveTo>
                  <a:pt x="5759996" y="0"/>
                </a:moveTo>
                <a:lnTo>
                  <a:pt x="0" y="0"/>
                </a:lnTo>
                <a:lnTo>
                  <a:pt x="0" y="313118"/>
                </a:lnTo>
                <a:lnTo>
                  <a:pt x="5759996" y="313118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Aparicio</a:t>
            </a:r>
            <a:r>
              <a:rPr spc="75" dirty="0"/>
              <a:t> </a:t>
            </a:r>
            <a:r>
              <a:rPr dirty="0"/>
              <a:t>Llanquipacha</a:t>
            </a:r>
            <a:r>
              <a:rPr spc="295" dirty="0"/>
              <a:t> </a:t>
            </a:r>
            <a:r>
              <a:rPr spc="-10" dirty="0"/>
              <a:t>(COM610)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Semestre</a:t>
            </a:r>
            <a:r>
              <a:rPr spc="70" dirty="0"/>
              <a:t> </a:t>
            </a:r>
            <a:r>
              <a:rPr dirty="0"/>
              <a:t>2-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‹Nº›</a:t>
            </a:fld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Aparicio</a:t>
            </a:r>
            <a:r>
              <a:rPr spc="75" dirty="0"/>
              <a:t> </a:t>
            </a:r>
            <a:r>
              <a:rPr dirty="0"/>
              <a:t>Llanquipacha</a:t>
            </a:r>
            <a:r>
              <a:rPr spc="295" dirty="0"/>
              <a:t> </a:t>
            </a:r>
            <a:r>
              <a:rPr spc="-10" dirty="0"/>
              <a:t>(COM610)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Semestre</a:t>
            </a:r>
            <a:r>
              <a:rPr spc="70" dirty="0"/>
              <a:t> </a:t>
            </a:r>
            <a:r>
              <a:rPr dirty="0"/>
              <a:t>2-</a:t>
            </a:r>
            <a:r>
              <a:rPr spc="-20" dirty="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‹Nº›</a:t>
            </a:fld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Aparicio</a:t>
            </a:r>
            <a:r>
              <a:rPr spc="75" dirty="0"/>
              <a:t> </a:t>
            </a:r>
            <a:r>
              <a:rPr dirty="0"/>
              <a:t>Llanquipacha</a:t>
            </a:r>
            <a:r>
              <a:rPr spc="295" dirty="0"/>
              <a:t> </a:t>
            </a:r>
            <a:r>
              <a:rPr spc="-10" dirty="0"/>
              <a:t>(COM610)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Semestre</a:t>
            </a:r>
            <a:r>
              <a:rPr spc="70" dirty="0"/>
              <a:t> </a:t>
            </a:r>
            <a:r>
              <a:rPr dirty="0"/>
              <a:t>2-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‹Nº›</a:t>
            </a:fld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44912" y="30450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65295" y="30410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43097" y="30410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4681" y="3034715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31512" y="30410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86618" y="30474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97717" y="30410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73918" y="303471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40123" y="3034715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63922" y="30410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40123" y="30728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6340" y="303471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651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387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34715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75729" y="543788"/>
            <a:ext cx="5608955" cy="82550"/>
          </a:xfrm>
          <a:custGeom>
            <a:avLst/>
            <a:gdLst/>
            <a:ahLst/>
            <a:cxnLst/>
            <a:rect l="l" t="t" r="r" b="b"/>
            <a:pathLst>
              <a:path w="5608955" h="82550">
                <a:moveTo>
                  <a:pt x="555782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5608620" y="82384"/>
                </a:lnTo>
                <a:lnTo>
                  <a:pt x="5608620" y="50800"/>
                </a:lnTo>
                <a:lnTo>
                  <a:pt x="5604612" y="31075"/>
                </a:lnTo>
                <a:lnTo>
                  <a:pt x="5593698" y="14922"/>
                </a:lnTo>
                <a:lnTo>
                  <a:pt x="5577545" y="4008"/>
                </a:lnTo>
                <a:lnTo>
                  <a:pt x="5557820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26530" y="607044"/>
            <a:ext cx="5608955" cy="671830"/>
          </a:xfrm>
          <a:custGeom>
            <a:avLst/>
            <a:gdLst/>
            <a:ahLst/>
            <a:cxnLst/>
            <a:rect l="l" t="t" r="r" b="b"/>
            <a:pathLst>
              <a:path w="5608955" h="671830">
                <a:moveTo>
                  <a:pt x="5608620" y="0"/>
                </a:moveTo>
                <a:lnTo>
                  <a:pt x="0" y="0"/>
                </a:lnTo>
                <a:lnTo>
                  <a:pt x="0" y="671452"/>
                </a:lnTo>
                <a:lnTo>
                  <a:pt x="5608620" y="671452"/>
                </a:lnTo>
                <a:lnTo>
                  <a:pt x="56086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75729" y="588207"/>
            <a:ext cx="5608955" cy="640080"/>
          </a:xfrm>
          <a:custGeom>
            <a:avLst/>
            <a:gdLst/>
            <a:ahLst/>
            <a:cxnLst/>
            <a:rect l="l" t="t" r="r" b="b"/>
            <a:pathLst>
              <a:path w="5608955" h="640080">
                <a:moveTo>
                  <a:pt x="5608620" y="0"/>
                </a:moveTo>
                <a:lnTo>
                  <a:pt x="0" y="0"/>
                </a:lnTo>
                <a:lnTo>
                  <a:pt x="0" y="588688"/>
                </a:lnTo>
                <a:lnTo>
                  <a:pt x="4008" y="608413"/>
                </a:lnTo>
                <a:lnTo>
                  <a:pt x="14922" y="624565"/>
                </a:lnTo>
                <a:lnTo>
                  <a:pt x="31075" y="635480"/>
                </a:lnTo>
                <a:lnTo>
                  <a:pt x="50800" y="639488"/>
                </a:lnTo>
                <a:lnTo>
                  <a:pt x="5557820" y="639488"/>
                </a:lnTo>
                <a:lnTo>
                  <a:pt x="5577545" y="635480"/>
                </a:lnTo>
                <a:lnTo>
                  <a:pt x="5593698" y="624565"/>
                </a:lnTo>
                <a:lnTo>
                  <a:pt x="5604612" y="608413"/>
                </a:lnTo>
                <a:lnTo>
                  <a:pt x="5608620" y="588688"/>
                </a:lnTo>
                <a:lnTo>
                  <a:pt x="5608620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Aparicio</a:t>
            </a:r>
            <a:r>
              <a:rPr spc="75" dirty="0"/>
              <a:t> </a:t>
            </a:r>
            <a:r>
              <a:rPr dirty="0"/>
              <a:t>Llanquipacha</a:t>
            </a:r>
            <a:r>
              <a:rPr spc="295" dirty="0"/>
              <a:t> </a:t>
            </a:r>
            <a:r>
              <a:rPr spc="-10" dirty="0"/>
              <a:t>(COM610)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Semestre</a:t>
            </a:r>
            <a:r>
              <a:rPr spc="70" dirty="0"/>
              <a:t> </a:t>
            </a:r>
            <a:r>
              <a:rPr dirty="0"/>
              <a:t>2-</a:t>
            </a:r>
            <a:r>
              <a:rPr spc="-20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‹Nº›</a:t>
            </a:fld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44912" y="30450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65295" y="30410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43097" y="30410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4681" y="3034715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31512" y="30410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86618" y="30474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97717" y="30410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73918" y="303471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40123" y="3034715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63922" y="30410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40123" y="30728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6340" y="303471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651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387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34715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41373"/>
            <a:ext cx="44462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653" y="1565381"/>
            <a:ext cx="2658745" cy="708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6615" y="3125761"/>
            <a:ext cx="1007110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Aparicio</a:t>
            </a:r>
            <a:r>
              <a:rPr spc="75" dirty="0"/>
              <a:t> </a:t>
            </a:r>
            <a:r>
              <a:rPr dirty="0"/>
              <a:t>Llanquipacha</a:t>
            </a:r>
            <a:r>
              <a:rPr spc="295" dirty="0"/>
              <a:t> </a:t>
            </a:r>
            <a:r>
              <a:rPr spc="-10" dirty="0"/>
              <a:t>(COM610)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480394" y="3125761"/>
            <a:ext cx="522604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Semestre</a:t>
            </a:r>
            <a:r>
              <a:rPr spc="70" dirty="0"/>
              <a:t> </a:t>
            </a:r>
            <a:r>
              <a:rPr dirty="0"/>
              <a:t>2-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36996" y="3125761"/>
            <a:ext cx="168275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‹Nº›</a:t>
            </a:fld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60" dirty="0"/>
              <a:t>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slide" Target="slide8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530" y="607044"/>
            <a:ext cx="5608955" cy="67183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45"/>
              </a:spcBef>
            </a:pPr>
            <a:r>
              <a:rPr sz="1400" spc="-65" dirty="0">
                <a:solidFill>
                  <a:srgbClr val="CC0000"/>
                </a:solidFill>
                <a:latin typeface="Arial Black"/>
                <a:cs typeface="Arial Black"/>
              </a:rPr>
              <a:t>Despliegue </a:t>
            </a:r>
            <a:r>
              <a:rPr sz="1400" spc="-75" dirty="0">
                <a:solidFill>
                  <a:srgbClr val="CC0000"/>
                </a:solidFill>
                <a:latin typeface="Arial Black"/>
                <a:cs typeface="Arial Black"/>
              </a:rPr>
              <a:t>de</a:t>
            </a:r>
            <a:r>
              <a:rPr sz="1400" spc="-65" dirty="0">
                <a:solidFill>
                  <a:srgbClr val="CC0000"/>
                </a:solidFill>
                <a:latin typeface="Arial Black"/>
                <a:cs typeface="Arial Black"/>
              </a:rPr>
              <a:t> </a:t>
            </a:r>
            <a:r>
              <a:rPr sz="1400" spc="-85" dirty="0">
                <a:solidFill>
                  <a:srgbClr val="CC0000"/>
                </a:solidFill>
                <a:latin typeface="Arial Black"/>
                <a:cs typeface="Arial Black"/>
              </a:rPr>
              <a:t>Sistema</a:t>
            </a:r>
            <a:r>
              <a:rPr sz="1400" spc="-60" dirty="0">
                <a:solidFill>
                  <a:srgbClr val="CC000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CC0000"/>
                </a:solidFill>
                <a:latin typeface="Arial Black"/>
                <a:cs typeface="Arial Black"/>
              </a:rPr>
              <a:t>Clínico</a:t>
            </a:r>
            <a:r>
              <a:rPr sz="1400" spc="-65" dirty="0">
                <a:solidFill>
                  <a:srgbClr val="CC000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CC0000"/>
                </a:solidFill>
                <a:latin typeface="Arial Black"/>
                <a:cs typeface="Arial Black"/>
              </a:rPr>
              <a:t>Dental</a:t>
            </a:r>
            <a:r>
              <a:rPr sz="1400" spc="-60" dirty="0">
                <a:solidFill>
                  <a:srgbClr val="CC0000"/>
                </a:solidFill>
                <a:latin typeface="Arial Black"/>
                <a:cs typeface="Arial Black"/>
              </a:rPr>
              <a:t> </a:t>
            </a:r>
            <a:r>
              <a:rPr sz="1400" spc="-105" dirty="0">
                <a:solidFill>
                  <a:srgbClr val="CC0000"/>
                </a:solidFill>
                <a:latin typeface="Arial Black"/>
                <a:cs typeface="Arial Black"/>
              </a:rPr>
              <a:t>Escalable</a:t>
            </a:r>
            <a:r>
              <a:rPr sz="1400" spc="-65" dirty="0">
                <a:solidFill>
                  <a:srgbClr val="CC000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CC0000"/>
                </a:solidFill>
                <a:latin typeface="Arial Black"/>
                <a:cs typeface="Arial Black"/>
              </a:rPr>
              <a:t>en</a:t>
            </a:r>
            <a:r>
              <a:rPr sz="1400" spc="-60" dirty="0">
                <a:solidFill>
                  <a:srgbClr val="CC000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CC0000"/>
                </a:solidFill>
                <a:latin typeface="Arial Black"/>
                <a:cs typeface="Arial Black"/>
              </a:rPr>
              <a:t>AWS</a:t>
            </a:r>
            <a:endParaRPr sz="1400">
              <a:latin typeface="Arial Black"/>
              <a:cs typeface="Arial Black"/>
            </a:endParaRPr>
          </a:p>
          <a:p>
            <a:pPr marR="93980" algn="ctr">
              <a:lnSpc>
                <a:spcPct val="100000"/>
              </a:lnSpc>
              <a:spcBef>
                <a:spcPts val="275"/>
              </a:spcBef>
            </a:pPr>
            <a:r>
              <a:rPr sz="1000" spc="-50" dirty="0">
                <a:solidFill>
                  <a:srgbClr val="CC0000"/>
                </a:solidFill>
                <a:latin typeface="Arial Black"/>
                <a:cs typeface="Arial Black"/>
              </a:rPr>
              <a:t>Arquitectura</a:t>
            </a:r>
            <a:r>
              <a:rPr sz="1000" spc="-40" dirty="0">
                <a:solidFill>
                  <a:srgbClr val="CC0000"/>
                </a:solidFill>
                <a:latin typeface="Arial Black"/>
                <a:cs typeface="Arial Black"/>
              </a:rPr>
              <a:t> </a:t>
            </a:r>
            <a:r>
              <a:rPr sz="1000" spc="-65" dirty="0">
                <a:solidFill>
                  <a:srgbClr val="CC0000"/>
                </a:solidFill>
                <a:latin typeface="Arial Black"/>
                <a:cs typeface="Arial Black"/>
              </a:rPr>
              <a:t>Hexagonal</a:t>
            </a:r>
            <a:r>
              <a:rPr sz="1000" spc="-35" dirty="0">
                <a:solidFill>
                  <a:srgbClr val="CC0000"/>
                </a:solidFill>
                <a:latin typeface="Arial Black"/>
                <a:cs typeface="Arial Black"/>
              </a:rPr>
              <a:t> </a:t>
            </a:r>
            <a:r>
              <a:rPr sz="1000" spc="-55" dirty="0">
                <a:solidFill>
                  <a:srgbClr val="CC0000"/>
                </a:solidFill>
                <a:latin typeface="Arial Black"/>
                <a:cs typeface="Arial Black"/>
              </a:rPr>
              <a:t>y</a:t>
            </a:r>
            <a:r>
              <a:rPr sz="1000" spc="-35" dirty="0">
                <a:solidFill>
                  <a:srgbClr val="CC0000"/>
                </a:solidFill>
                <a:latin typeface="Arial Black"/>
                <a:cs typeface="Arial Black"/>
              </a:rPr>
              <a:t> </a:t>
            </a:r>
            <a:r>
              <a:rPr sz="1000" spc="-55" dirty="0">
                <a:solidFill>
                  <a:srgbClr val="CC0000"/>
                </a:solidFill>
                <a:latin typeface="Arial Black"/>
                <a:cs typeface="Arial Black"/>
              </a:rPr>
              <a:t>Alta</a:t>
            </a:r>
            <a:r>
              <a:rPr sz="1000" spc="-40" dirty="0">
                <a:solidFill>
                  <a:srgbClr val="CC0000"/>
                </a:solidFill>
                <a:latin typeface="Arial Black"/>
                <a:cs typeface="Arial Black"/>
              </a:rPr>
              <a:t> </a:t>
            </a:r>
            <a:r>
              <a:rPr sz="1000" spc="-10" dirty="0">
                <a:solidFill>
                  <a:srgbClr val="CC0000"/>
                </a:solidFill>
                <a:latin typeface="Arial Black"/>
                <a:cs typeface="Arial Black"/>
              </a:rPr>
              <a:t>Disponibilidad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23745" y="1437733"/>
            <a:ext cx="1936114" cy="1056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5240" algn="ctr">
              <a:lnSpc>
                <a:spcPts val="1200"/>
              </a:lnSpc>
              <a:spcBef>
                <a:spcPts val="95"/>
              </a:spcBef>
            </a:pPr>
            <a:r>
              <a:rPr sz="1000" spc="10" dirty="0">
                <a:latin typeface="Arial MT"/>
                <a:cs typeface="Arial MT"/>
              </a:rPr>
              <a:t>Aparicio</a:t>
            </a:r>
            <a:r>
              <a:rPr sz="1000" spc="145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Llanquipacha</a:t>
            </a:r>
            <a:r>
              <a:rPr sz="1000" spc="14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Gabriel</a:t>
            </a:r>
            <a:endParaRPr sz="1000">
              <a:latin typeface="Arial MT"/>
              <a:cs typeface="Arial MT"/>
            </a:endParaRPr>
          </a:p>
          <a:p>
            <a:pPr marR="15240" algn="ctr">
              <a:lnSpc>
                <a:spcPts val="1080"/>
              </a:lnSpc>
            </a:pPr>
            <a:r>
              <a:rPr sz="900" dirty="0">
                <a:latin typeface="Arial MT"/>
                <a:cs typeface="Arial MT"/>
              </a:rPr>
              <a:t>Grupo</a:t>
            </a:r>
            <a:r>
              <a:rPr sz="900" spc="130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1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900">
              <a:latin typeface="Arial MT"/>
              <a:cs typeface="Arial MT"/>
            </a:endParaRPr>
          </a:p>
          <a:p>
            <a:pPr algn="ctr">
              <a:lnSpc>
                <a:spcPts val="819"/>
              </a:lnSpc>
            </a:pPr>
            <a:r>
              <a:rPr sz="700" spc="-40" dirty="0">
                <a:latin typeface="Arial Black"/>
                <a:cs typeface="Arial Black"/>
              </a:rPr>
              <a:t>Asignatura:</a:t>
            </a:r>
            <a:r>
              <a:rPr sz="700" spc="30" dirty="0">
                <a:latin typeface="Arial Black"/>
                <a:cs typeface="Arial Black"/>
              </a:rPr>
              <a:t> </a:t>
            </a:r>
            <a:r>
              <a:rPr sz="700" dirty="0">
                <a:latin typeface="Arial MT"/>
                <a:cs typeface="Arial MT"/>
              </a:rPr>
              <a:t>Trabajando</a:t>
            </a:r>
            <a:r>
              <a:rPr sz="700" spc="7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en</a:t>
            </a:r>
            <a:r>
              <a:rPr sz="700" spc="7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la</a:t>
            </a:r>
            <a:r>
              <a:rPr sz="700" spc="7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Nube</a:t>
            </a:r>
            <a:r>
              <a:rPr sz="700" spc="7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(COM610)</a:t>
            </a:r>
            <a:endParaRPr sz="700">
              <a:latin typeface="Arial MT"/>
              <a:cs typeface="Arial MT"/>
            </a:endParaRPr>
          </a:p>
          <a:p>
            <a:pPr marR="15240" algn="ctr">
              <a:lnSpc>
                <a:spcPts val="819"/>
              </a:lnSpc>
            </a:pPr>
            <a:r>
              <a:rPr sz="700" spc="-50" dirty="0">
                <a:latin typeface="Arial Black"/>
                <a:cs typeface="Arial Black"/>
              </a:rPr>
              <a:t>Docente:</a:t>
            </a:r>
            <a:r>
              <a:rPr sz="700" spc="30" dirty="0">
                <a:latin typeface="Arial Black"/>
                <a:cs typeface="Arial Black"/>
              </a:rPr>
              <a:t> </a:t>
            </a:r>
            <a:r>
              <a:rPr sz="700" dirty="0">
                <a:latin typeface="Arial MT"/>
                <a:cs typeface="Arial MT"/>
              </a:rPr>
              <a:t>Ing.</a:t>
            </a:r>
            <a:r>
              <a:rPr sz="700" spc="8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Lucio</a:t>
            </a:r>
            <a:r>
              <a:rPr sz="700" spc="7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Marcelo</a:t>
            </a:r>
            <a:r>
              <a:rPr sz="700" spc="7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Quispe</a:t>
            </a:r>
            <a:r>
              <a:rPr sz="700" spc="7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Ortega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700">
              <a:latin typeface="Arial MT"/>
              <a:cs typeface="Arial MT"/>
            </a:endParaRPr>
          </a:p>
          <a:p>
            <a:pPr marR="15240" algn="ctr">
              <a:lnSpc>
                <a:spcPct val="100000"/>
              </a:lnSpc>
            </a:pPr>
            <a:r>
              <a:rPr sz="1000" dirty="0">
                <a:latin typeface="Arial MT"/>
                <a:cs typeface="Arial MT"/>
              </a:rPr>
              <a:t>Semestre</a:t>
            </a:r>
            <a:r>
              <a:rPr sz="1000" spc="10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2-</a:t>
            </a:r>
            <a:r>
              <a:rPr sz="1000" spc="-20" dirty="0">
                <a:latin typeface="Arial MT"/>
                <a:cs typeface="Arial MT"/>
              </a:rPr>
              <a:t>2025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5" name="object 5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Aparicio</a:t>
            </a:r>
            <a:r>
              <a:rPr spc="75" dirty="0"/>
              <a:t> </a:t>
            </a:r>
            <a:r>
              <a:rPr dirty="0"/>
              <a:t>Llanquipacha</a:t>
            </a:r>
            <a:r>
              <a:rPr spc="295" dirty="0"/>
              <a:t> </a:t>
            </a:r>
            <a:r>
              <a:rPr spc="-10" dirty="0"/>
              <a:t>(COM610)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63444" y="3125761"/>
            <a:ext cx="833119" cy="111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Sistema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Clínico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Dental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500" spc="-2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AWS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Semestre</a:t>
            </a:r>
            <a:r>
              <a:rPr spc="70" dirty="0"/>
              <a:t> </a:t>
            </a:r>
            <a:r>
              <a:rPr dirty="0"/>
              <a:t>2-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1</a:t>
            </a:fld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41373"/>
            <a:ext cx="38938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Objetivo</a:t>
            </a:r>
            <a:r>
              <a:rPr spc="-75" dirty="0"/>
              <a:t> </a:t>
            </a:r>
            <a:r>
              <a:rPr spc="-55" dirty="0"/>
              <a:t>del</a:t>
            </a:r>
            <a:r>
              <a:rPr spc="-75" dirty="0"/>
              <a:t> </a:t>
            </a:r>
            <a:r>
              <a:rPr spc="-80" dirty="0"/>
              <a:t>Proyecto</a:t>
            </a:r>
            <a:r>
              <a:rPr spc="-70" dirty="0"/>
              <a:t> </a:t>
            </a:r>
            <a:r>
              <a:rPr spc="-40" dirty="0"/>
              <a:t>y</a:t>
            </a:r>
            <a:r>
              <a:rPr spc="-75" dirty="0"/>
              <a:t> </a:t>
            </a:r>
            <a:r>
              <a:rPr spc="-65" dirty="0"/>
              <a:t>Propuesta</a:t>
            </a:r>
            <a:r>
              <a:rPr spc="-70" dirty="0"/>
              <a:t> </a:t>
            </a:r>
            <a:r>
              <a:rPr spc="-75" dirty="0"/>
              <a:t>de </a:t>
            </a:r>
            <a:r>
              <a:rPr spc="-10" dirty="0"/>
              <a:t>Valor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247" y="1133703"/>
            <a:ext cx="71882" cy="7188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247" y="1627149"/>
            <a:ext cx="71882" cy="718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2247" y="1968779"/>
            <a:ext cx="71882" cy="7188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653" y="841140"/>
            <a:ext cx="2759710" cy="139192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130" dirty="0">
                <a:latin typeface="Arial Black"/>
                <a:cs typeface="Arial Black"/>
              </a:rPr>
              <a:t>OBJETIVO</a:t>
            </a:r>
            <a:r>
              <a:rPr sz="1000" spc="-25" dirty="0">
                <a:latin typeface="Arial Black"/>
                <a:cs typeface="Arial Black"/>
              </a:rPr>
              <a:t> </a:t>
            </a:r>
            <a:r>
              <a:rPr sz="1000" spc="-10" dirty="0">
                <a:latin typeface="Arial Black"/>
                <a:cs typeface="Arial Black"/>
              </a:rPr>
              <a:t>CENTRAL</a:t>
            </a:r>
            <a:endParaRPr sz="1000">
              <a:latin typeface="Arial Black"/>
              <a:cs typeface="Arial Black"/>
            </a:endParaRPr>
          </a:p>
          <a:p>
            <a:pPr marL="265430" marR="81280">
              <a:lnSpc>
                <a:spcPct val="100000"/>
              </a:lnSpc>
              <a:spcBef>
                <a:spcPts val="295"/>
              </a:spcBef>
            </a:pPr>
            <a:r>
              <a:rPr sz="1000" spc="-60" dirty="0">
                <a:latin typeface="Arial Black"/>
                <a:cs typeface="Arial Black"/>
              </a:rPr>
              <a:t>Problema:</a:t>
            </a:r>
            <a:r>
              <a:rPr sz="1000" spc="125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Gestión</a:t>
            </a:r>
            <a:r>
              <a:rPr sz="1000" spc="18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ineficiente</a:t>
            </a:r>
            <a:r>
              <a:rPr sz="1000" spc="17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de </a:t>
            </a:r>
            <a:r>
              <a:rPr sz="1000" spc="10" dirty="0">
                <a:latin typeface="Arial MT"/>
                <a:cs typeface="Arial MT"/>
              </a:rPr>
              <a:t>pacientes,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citas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y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expedientes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en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clínicas </a:t>
            </a:r>
            <a:r>
              <a:rPr sz="1000" dirty="0">
                <a:latin typeface="Arial MT"/>
                <a:cs typeface="Arial MT"/>
              </a:rPr>
              <a:t>dentales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tradicionales.</a:t>
            </a:r>
            <a:endParaRPr sz="1000">
              <a:latin typeface="Arial MT"/>
              <a:cs typeface="Arial MT"/>
            </a:endParaRPr>
          </a:p>
          <a:p>
            <a:pPr marL="265430" marR="69850">
              <a:lnSpc>
                <a:spcPct val="100000"/>
              </a:lnSpc>
              <a:spcBef>
                <a:spcPts val="285"/>
              </a:spcBef>
            </a:pPr>
            <a:r>
              <a:rPr sz="1000" spc="-70" dirty="0">
                <a:latin typeface="Arial Black"/>
                <a:cs typeface="Arial Black"/>
              </a:rPr>
              <a:t>Solución:</a:t>
            </a:r>
            <a:r>
              <a:rPr sz="1000" spc="105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Plataforma</a:t>
            </a:r>
            <a:r>
              <a:rPr sz="1000" spc="1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web</a:t>
            </a:r>
            <a:r>
              <a:rPr sz="1000" spc="15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moderna, </a:t>
            </a:r>
            <a:r>
              <a:rPr sz="1000" spc="10" dirty="0">
                <a:latin typeface="Arial MT"/>
                <a:cs typeface="Arial MT"/>
              </a:rPr>
              <a:t>segura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y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accesible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desde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cualquier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lugar.</a:t>
            </a:r>
            <a:endParaRPr sz="1000">
              <a:latin typeface="Arial MT"/>
              <a:cs typeface="Arial MT"/>
            </a:endParaRP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sz="1000" spc="-45" dirty="0">
                <a:latin typeface="Arial Black"/>
                <a:cs typeface="Arial Black"/>
              </a:rPr>
              <a:t>Meta</a:t>
            </a:r>
            <a:r>
              <a:rPr sz="1000" spc="55" dirty="0">
                <a:latin typeface="Arial Black"/>
                <a:cs typeface="Arial Black"/>
              </a:rPr>
              <a:t> </a:t>
            </a:r>
            <a:r>
              <a:rPr sz="1000" spc="-105" dirty="0">
                <a:latin typeface="Arial Black"/>
                <a:cs typeface="Arial Black"/>
              </a:rPr>
              <a:t>Técnica:</a:t>
            </a:r>
            <a:r>
              <a:rPr sz="1000" spc="60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Demostrar</a:t>
            </a:r>
            <a:r>
              <a:rPr sz="1000" spc="114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Black"/>
                <a:cs typeface="Arial Black"/>
              </a:rPr>
              <a:t>Elasticidad</a:t>
            </a:r>
            <a:r>
              <a:rPr sz="1000" spc="-10" dirty="0">
                <a:latin typeface="Arial MT"/>
                <a:cs typeface="Arial MT"/>
              </a:rPr>
              <a:t>, </a:t>
            </a:r>
            <a:r>
              <a:rPr sz="1000" spc="-60" dirty="0">
                <a:latin typeface="Arial Black"/>
                <a:cs typeface="Arial Black"/>
              </a:rPr>
              <a:t>Seguridad</a:t>
            </a:r>
            <a:r>
              <a:rPr sz="1000" spc="-30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y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Black"/>
                <a:cs typeface="Arial Black"/>
              </a:rPr>
              <a:t>Alta</a:t>
            </a:r>
            <a:r>
              <a:rPr sz="1000" spc="-35" dirty="0">
                <a:latin typeface="Arial Black"/>
                <a:cs typeface="Arial Black"/>
              </a:rPr>
              <a:t> </a:t>
            </a:r>
            <a:r>
              <a:rPr sz="1000" spc="-50" dirty="0">
                <a:latin typeface="Arial Black"/>
                <a:cs typeface="Arial Black"/>
              </a:rPr>
              <a:t>Disponibilidad</a:t>
            </a:r>
            <a:r>
              <a:rPr sz="1000" spc="-25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en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AWS.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0075" y="1192860"/>
            <a:ext cx="71881" cy="718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40075" y="1534477"/>
            <a:ext cx="71881" cy="7188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0075" y="1724266"/>
            <a:ext cx="71881" cy="7188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0075" y="2065883"/>
            <a:ext cx="71881" cy="7188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909481" y="900297"/>
            <a:ext cx="2682875" cy="12782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145" dirty="0">
                <a:latin typeface="Arial Black"/>
                <a:cs typeface="Arial Black"/>
              </a:rPr>
              <a:t>TECH</a:t>
            </a:r>
            <a:r>
              <a:rPr sz="1000" spc="-25" dirty="0">
                <a:latin typeface="Arial Black"/>
                <a:cs typeface="Arial Black"/>
              </a:rPr>
              <a:t> </a:t>
            </a:r>
            <a:r>
              <a:rPr sz="1000" spc="-175" dirty="0">
                <a:latin typeface="Arial Black"/>
                <a:cs typeface="Arial Black"/>
              </a:rPr>
              <a:t>STACK</a:t>
            </a:r>
            <a:r>
              <a:rPr sz="1000" spc="-20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Arial Black"/>
                <a:cs typeface="Arial Black"/>
              </a:rPr>
              <a:t>(Cloud-</a:t>
            </a:r>
            <a:r>
              <a:rPr sz="1000" spc="-10" dirty="0">
                <a:latin typeface="Arial Black"/>
                <a:cs typeface="Arial Black"/>
              </a:rPr>
              <a:t>Native)</a:t>
            </a:r>
            <a:endParaRPr sz="1000">
              <a:latin typeface="Arial Black"/>
              <a:cs typeface="Arial Black"/>
            </a:endParaRPr>
          </a:p>
          <a:p>
            <a:pPr marL="265430" marR="509905">
              <a:lnSpc>
                <a:spcPct val="100000"/>
              </a:lnSpc>
              <a:spcBef>
                <a:spcPts val="295"/>
              </a:spcBef>
            </a:pPr>
            <a:r>
              <a:rPr sz="1000" spc="-50" dirty="0">
                <a:latin typeface="Arial Black"/>
                <a:cs typeface="Arial Black"/>
              </a:rPr>
              <a:t>Frontend: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React.js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(Vite)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en </a:t>
            </a:r>
            <a:r>
              <a:rPr sz="1000" spc="-50" dirty="0">
                <a:latin typeface="Arial MT"/>
                <a:cs typeface="Arial MT"/>
              </a:rPr>
              <a:t>S3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+ </a:t>
            </a:r>
            <a:r>
              <a:rPr sz="1000" spc="-10" dirty="0">
                <a:latin typeface="Arial MT"/>
                <a:cs typeface="Arial MT"/>
              </a:rPr>
              <a:t>CloudFront.</a:t>
            </a:r>
            <a:endParaRPr sz="10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sz="1000" spc="-75" dirty="0">
                <a:latin typeface="Arial Black"/>
                <a:cs typeface="Arial Black"/>
              </a:rPr>
              <a:t>Backend: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50" dirty="0">
                <a:latin typeface="Arial MT"/>
                <a:cs typeface="Arial MT"/>
              </a:rPr>
              <a:t>NestJS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(Node.js)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+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PM2.</a:t>
            </a:r>
            <a:endParaRPr sz="1000">
              <a:latin typeface="Arial MT"/>
              <a:cs typeface="Arial MT"/>
            </a:endParaRPr>
          </a:p>
          <a:p>
            <a:pPr marL="265430" marR="205740">
              <a:lnSpc>
                <a:spcPct val="100000"/>
              </a:lnSpc>
              <a:spcBef>
                <a:spcPts val="290"/>
              </a:spcBef>
            </a:pPr>
            <a:r>
              <a:rPr sz="1000" spc="-100" dirty="0">
                <a:latin typeface="Arial Black"/>
                <a:cs typeface="Arial Black"/>
              </a:rPr>
              <a:t>Base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Arial Black"/>
                <a:cs typeface="Arial Black"/>
              </a:rPr>
              <a:t>de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65" dirty="0">
                <a:latin typeface="Arial Black"/>
                <a:cs typeface="Arial Black"/>
              </a:rPr>
              <a:t>Datos: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PostgreSQL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(Amazon RDS).</a:t>
            </a:r>
            <a:endParaRPr sz="10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sz="1000" spc="-45" dirty="0">
                <a:latin typeface="Arial Black"/>
                <a:cs typeface="Arial Black"/>
              </a:rPr>
              <a:t>Infraestructura:</a:t>
            </a:r>
            <a:r>
              <a:rPr sz="1000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Arial MT"/>
                <a:cs typeface="Arial MT"/>
              </a:rPr>
              <a:t>EC2,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Auto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Scaling,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ALB.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13" name="object 13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Aparicio</a:t>
            </a:r>
            <a:r>
              <a:rPr spc="75" dirty="0"/>
              <a:t> </a:t>
            </a:r>
            <a:r>
              <a:rPr dirty="0"/>
              <a:t>Llanquipacha</a:t>
            </a:r>
            <a:r>
              <a:rPr spc="295" dirty="0"/>
              <a:t> </a:t>
            </a:r>
            <a:r>
              <a:rPr spc="-10" dirty="0"/>
              <a:t>(COM610)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63444" y="3125761"/>
            <a:ext cx="833119" cy="111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Sistema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Clínico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Dental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500" spc="-25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AWS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Semestre</a:t>
            </a:r>
            <a:r>
              <a:rPr spc="70" dirty="0"/>
              <a:t> </a:t>
            </a:r>
            <a:r>
              <a:rPr dirty="0"/>
              <a:t>2-</a:t>
            </a:r>
            <a:r>
              <a:rPr spc="-20" dirty="0"/>
              <a:t>2025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2</a:t>
            </a:fld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Diseño</a:t>
            </a:r>
            <a:r>
              <a:rPr spc="-75" dirty="0"/>
              <a:t> </a:t>
            </a:r>
            <a:r>
              <a:rPr spc="-85" dirty="0"/>
              <a:t>Esquemático</a:t>
            </a:r>
            <a:r>
              <a:rPr spc="-70" dirty="0"/>
              <a:t> </a:t>
            </a:r>
            <a:r>
              <a:rPr spc="-75" dirty="0"/>
              <a:t>de </a:t>
            </a:r>
            <a:r>
              <a:rPr spc="-55" dirty="0"/>
              <a:t>la</a:t>
            </a:r>
            <a:r>
              <a:rPr spc="-70" dirty="0"/>
              <a:t> </a:t>
            </a:r>
            <a:r>
              <a:rPr spc="-30" dirty="0"/>
              <a:t>Arquitectura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0" y="433049"/>
            <a:ext cx="31064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40" dirty="0">
                <a:latin typeface="Arial Black"/>
                <a:cs typeface="Arial Black"/>
              </a:rPr>
              <a:t>EL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100" dirty="0">
                <a:latin typeface="Arial Black"/>
                <a:cs typeface="Arial Black"/>
              </a:rPr>
              <a:t>CORAZÓN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110" dirty="0">
                <a:latin typeface="Arial Black"/>
                <a:cs typeface="Arial Black"/>
              </a:rPr>
              <a:t>DE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105" dirty="0">
                <a:latin typeface="Arial Black"/>
                <a:cs typeface="Arial Black"/>
              </a:rPr>
              <a:t>LA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95" dirty="0">
                <a:latin typeface="Arial Black"/>
                <a:cs typeface="Arial Black"/>
              </a:rPr>
              <a:t>NUBE: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70" dirty="0">
                <a:latin typeface="Arial Black"/>
                <a:cs typeface="Arial Black"/>
              </a:rPr>
              <a:t>Proxy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50" dirty="0">
                <a:latin typeface="Arial Black"/>
                <a:cs typeface="Arial Black"/>
              </a:rPr>
              <a:t>Inverso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75" dirty="0">
                <a:latin typeface="Arial Black"/>
                <a:cs typeface="Arial Black"/>
              </a:rPr>
              <a:t>con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25" dirty="0">
                <a:latin typeface="Arial Black"/>
                <a:cs typeface="Arial Black"/>
              </a:rPr>
              <a:t>CDN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7" name="object 7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Aparicio</a:t>
            </a:r>
            <a:r>
              <a:rPr spc="75" dirty="0"/>
              <a:t> </a:t>
            </a:r>
            <a:r>
              <a:rPr dirty="0"/>
              <a:t>Llanquipacha</a:t>
            </a:r>
            <a:r>
              <a:rPr spc="295" dirty="0"/>
              <a:t> </a:t>
            </a:r>
            <a:r>
              <a:rPr spc="-10" dirty="0"/>
              <a:t>(COM610)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63444" y="3125761"/>
            <a:ext cx="833119" cy="111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Sistema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Clínico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Dental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500" spc="-2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AWS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Semestre</a:t>
            </a:r>
            <a:r>
              <a:rPr spc="70" dirty="0"/>
              <a:t> </a:t>
            </a:r>
            <a:r>
              <a:rPr dirty="0"/>
              <a:t>2-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3</a:t>
            </a:fld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60" dirty="0"/>
              <a:t>8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C8F9785-C17D-091E-15F9-EE0CA23FD0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3" t="939" r="577" b="1443"/>
          <a:stretch>
            <a:fillRect/>
          </a:stretch>
        </p:blipFill>
        <p:spPr>
          <a:xfrm>
            <a:off x="785892" y="631825"/>
            <a:ext cx="3986922" cy="228599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25" dirty="0"/>
              <a:t>Temas</a:t>
            </a:r>
            <a:r>
              <a:rPr spc="-80" dirty="0"/>
              <a:t> </a:t>
            </a:r>
            <a:r>
              <a:rPr spc="-40" dirty="0"/>
              <a:t>y</a:t>
            </a:r>
            <a:r>
              <a:rPr spc="-75" dirty="0"/>
              <a:t> </a:t>
            </a:r>
            <a:r>
              <a:rPr spc="-85" dirty="0"/>
              <a:t>Conceptos</a:t>
            </a:r>
            <a:r>
              <a:rPr spc="-75" dirty="0"/>
              <a:t> </a:t>
            </a:r>
            <a:r>
              <a:rPr spc="-70" dirty="0"/>
              <a:t>Aplicados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424" y="843330"/>
            <a:ext cx="71882" cy="718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6877" y="778514"/>
            <a:ext cx="5255895" cy="1696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5244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latin typeface="Arial Black"/>
                <a:cs typeface="Arial Black"/>
              </a:rPr>
              <a:t>Automatización</a:t>
            </a:r>
            <a:r>
              <a:rPr sz="1000" spc="5" dirty="0">
                <a:latin typeface="Arial Black"/>
                <a:cs typeface="Arial Black"/>
              </a:rPr>
              <a:t> </a:t>
            </a:r>
            <a:r>
              <a:rPr sz="1000" spc="-70" dirty="0">
                <a:latin typeface="Arial Black"/>
                <a:cs typeface="Arial Black"/>
              </a:rPr>
              <a:t>(User</a:t>
            </a:r>
            <a:r>
              <a:rPr sz="1000" spc="10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Arial Black"/>
                <a:cs typeface="Arial Black"/>
              </a:rPr>
              <a:t>Data):</a:t>
            </a:r>
            <a:r>
              <a:rPr sz="1000" spc="10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En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lugar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Docker,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se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utilizó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Black"/>
                <a:cs typeface="Arial Black"/>
              </a:rPr>
              <a:t>PM2</a:t>
            </a:r>
            <a:r>
              <a:rPr sz="1000" spc="10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gestionado</a:t>
            </a:r>
            <a:r>
              <a:rPr sz="1000" spc="60" dirty="0">
                <a:latin typeface="Arial MT"/>
                <a:cs typeface="Arial MT"/>
              </a:rPr>
              <a:t> por </a:t>
            </a:r>
            <a:r>
              <a:rPr sz="1000" spc="-10" dirty="0">
                <a:latin typeface="Arial MT"/>
                <a:cs typeface="Arial MT"/>
              </a:rPr>
              <a:t>scripts </a:t>
            </a:r>
            <a:r>
              <a:rPr sz="1000" spc="20" dirty="0">
                <a:latin typeface="Arial MT"/>
                <a:cs typeface="Arial MT"/>
              </a:rPr>
              <a:t>de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arranque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(Bootstrapping)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en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las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plantillas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de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lanzamiento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para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instalar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Node.js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y </a:t>
            </a:r>
            <a:r>
              <a:rPr sz="1000" dirty="0">
                <a:latin typeface="Arial MT"/>
                <a:cs typeface="Arial MT"/>
              </a:rPr>
              <a:t>clonar</a:t>
            </a:r>
            <a:r>
              <a:rPr sz="1000" spc="7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el</a:t>
            </a:r>
            <a:r>
              <a:rPr sz="1000" spc="8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repo</a:t>
            </a:r>
            <a:r>
              <a:rPr sz="1000" spc="8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al</a:t>
            </a:r>
            <a:r>
              <a:rPr sz="1000" spc="8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nacer</a:t>
            </a:r>
            <a:r>
              <a:rPr sz="1000" spc="8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la</a:t>
            </a:r>
            <a:r>
              <a:rPr sz="1000" spc="8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instancia.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00" spc="-60" dirty="0">
                <a:latin typeface="Arial Black"/>
                <a:cs typeface="Arial Black"/>
              </a:rPr>
              <a:t>Seguridad</a:t>
            </a:r>
            <a:r>
              <a:rPr sz="1000" spc="50" dirty="0">
                <a:latin typeface="Arial Black"/>
                <a:cs typeface="Arial Black"/>
              </a:rPr>
              <a:t> </a:t>
            </a:r>
            <a:r>
              <a:rPr sz="1000" spc="-75" dirty="0">
                <a:latin typeface="Arial Black"/>
                <a:cs typeface="Arial Black"/>
              </a:rPr>
              <a:t>(Security</a:t>
            </a:r>
            <a:r>
              <a:rPr sz="1000" spc="55" dirty="0">
                <a:latin typeface="Arial Black"/>
                <a:cs typeface="Arial Black"/>
              </a:rPr>
              <a:t> </a:t>
            </a:r>
            <a:r>
              <a:rPr sz="1000" spc="-65" dirty="0">
                <a:latin typeface="Arial Black"/>
                <a:cs typeface="Arial Black"/>
              </a:rPr>
              <a:t>Groups):</a:t>
            </a:r>
            <a:r>
              <a:rPr sz="1000" spc="55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Aplicación</a:t>
            </a:r>
            <a:r>
              <a:rPr sz="1000" spc="1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estricta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del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principio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</a:t>
            </a:r>
            <a:r>
              <a:rPr sz="1000" spc="1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Black"/>
                <a:cs typeface="Arial Black"/>
              </a:rPr>
              <a:t>Mínimo</a:t>
            </a:r>
            <a:r>
              <a:rPr sz="1000" spc="55" dirty="0">
                <a:latin typeface="Arial Black"/>
                <a:cs typeface="Arial Black"/>
              </a:rPr>
              <a:t> </a:t>
            </a:r>
            <a:r>
              <a:rPr sz="1000" spc="-10" dirty="0">
                <a:latin typeface="Arial Black"/>
                <a:cs typeface="Arial Black"/>
              </a:rPr>
              <a:t>Privilegio</a:t>
            </a:r>
            <a:r>
              <a:rPr sz="1000" spc="-10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  <a:p>
            <a:pPr marL="12700" marR="123825">
              <a:lnSpc>
                <a:spcPct val="100000"/>
              </a:lnSpc>
              <a:spcBef>
                <a:spcPts val="295"/>
              </a:spcBef>
            </a:pPr>
            <a:r>
              <a:rPr sz="1000" spc="-80" dirty="0">
                <a:latin typeface="Arial Black"/>
                <a:cs typeface="Arial Black"/>
              </a:rPr>
              <a:t>Elasticidad</a:t>
            </a:r>
            <a:r>
              <a:rPr sz="1000" spc="55" dirty="0">
                <a:latin typeface="Arial Black"/>
                <a:cs typeface="Arial Black"/>
              </a:rPr>
              <a:t> </a:t>
            </a:r>
            <a:r>
              <a:rPr sz="1000" spc="-100" dirty="0">
                <a:latin typeface="Arial Black"/>
                <a:cs typeface="Arial Black"/>
              </a:rPr>
              <a:t>(ASG):</a:t>
            </a:r>
            <a:r>
              <a:rPr sz="1000" spc="55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Configuración</a:t>
            </a:r>
            <a:r>
              <a:rPr sz="1000" spc="1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políticas</a:t>
            </a:r>
            <a:r>
              <a:rPr sz="1000" spc="1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escalado</a:t>
            </a:r>
            <a:r>
              <a:rPr sz="1000" spc="1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basadas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en</a:t>
            </a:r>
            <a:r>
              <a:rPr sz="1000" spc="1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métricas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</a:t>
            </a:r>
            <a:r>
              <a:rPr sz="1000" spc="1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CPU </a:t>
            </a:r>
            <a:r>
              <a:rPr sz="1000" spc="-10" dirty="0">
                <a:latin typeface="Arial MT"/>
                <a:cs typeface="Arial MT"/>
              </a:rPr>
              <a:t>(CloudWatch).</a:t>
            </a:r>
            <a:endParaRPr sz="1000">
              <a:latin typeface="Arial MT"/>
              <a:cs typeface="Arial MT"/>
            </a:endParaRPr>
          </a:p>
          <a:p>
            <a:pPr marL="12700" marR="76200">
              <a:lnSpc>
                <a:spcPct val="100000"/>
              </a:lnSpc>
              <a:spcBef>
                <a:spcPts val="290"/>
              </a:spcBef>
            </a:pPr>
            <a:r>
              <a:rPr sz="1000" spc="-75" dirty="0">
                <a:latin typeface="Arial Black"/>
                <a:cs typeface="Arial Black"/>
              </a:rPr>
              <a:t>Persistencia</a:t>
            </a:r>
            <a:r>
              <a:rPr sz="1000" spc="10" dirty="0">
                <a:latin typeface="Arial Black"/>
                <a:cs typeface="Arial Black"/>
              </a:rPr>
              <a:t> </a:t>
            </a:r>
            <a:r>
              <a:rPr sz="1000" spc="-65" dirty="0">
                <a:latin typeface="Arial Black"/>
                <a:cs typeface="Arial Black"/>
              </a:rPr>
              <a:t>Gestionada:</a:t>
            </a:r>
            <a:r>
              <a:rPr sz="1000" spc="15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Uso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Amazon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spc="-85" dirty="0">
                <a:latin typeface="Arial MT"/>
                <a:cs typeface="Arial MT"/>
              </a:rPr>
              <a:t>RDS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para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desacoplar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los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datos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la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capa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de </a:t>
            </a:r>
            <a:r>
              <a:rPr sz="1000" spc="50" dirty="0">
                <a:latin typeface="Arial MT"/>
                <a:cs typeface="Arial MT"/>
              </a:rPr>
              <a:t>cómputo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volátil.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90"/>
              </a:spcBef>
            </a:pPr>
            <a:r>
              <a:rPr sz="1000" spc="-65" dirty="0">
                <a:latin typeface="Arial Black"/>
                <a:cs typeface="Arial Black"/>
              </a:rPr>
              <a:t>Entrega</a:t>
            </a:r>
            <a:r>
              <a:rPr sz="1000" spc="75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Arial Black"/>
                <a:cs typeface="Arial Black"/>
              </a:rPr>
              <a:t>de</a:t>
            </a:r>
            <a:r>
              <a:rPr sz="1000" spc="75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Arial Black"/>
                <a:cs typeface="Arial Black"/>
              </a:rPr>
              <a:t>Contenido:</a:t>
            </a:r>
            <a:r>
              <a:rPr sz="1000" spc="75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CloudFront</a:t>
            </a:r>
            <a:r>
              <a:rPr sz="1000" spc="1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actúa</a:t>
            </a:r>
            <a:r>
              <a:rPr sz="1000" spc="1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como</a:t>
            </a:r>
            <a:r>
              <a:rPr sz="1000" spc="125" dirty="0">
                <a:latin typeface="Arial MT"/>
                <a:cs typeface="Arial MT"/>
              </a:rPr>
              <a:t> </a:t>
            </a:r>
            <a:r>
              <a:rPr sz="1000" spc="60" dirty="0">
                <a:latin typeface="Arial MT"/>
                <a:cs typeface="Arial MT"/>
              </a:rPr>
              <a:t>punto</a:t>
            </a:r>
            <a:r>
              <a:rPr sz="1000" spc="1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</a:t>
            </a:r>
            <a:r>
              <a:rPr sz="1000" spc="1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entrada</a:t>
            </a:r>
            <a:r>
              <a:rPr sz="1000" spc="1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único,</a:t>
            </a:r>
            <a:r>
              <a:rPr sz="1000" spc="1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manejando</a:t>
            </a:r>
            <a:r>
              <a:rPr sz="1000" spc="12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SSL </a:t>
            </a:r>
            <a:r>
              <a:rPr sz="1000" dirty="0">
                <a:latin typeface="Arial MT"/>
                <a:cs typeface="Arial MT"/>
              </a:rPr>
              <a:t>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caché.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424" y="1336776"/>
            <a:ext cx="71882" cy="7188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424" y="1526565"/>
            <a:ext cx="71882" cy="7188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4424" y="1868182"/>
            <a:ext cx="71882" cy="718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4424" y="2209800"/>
            <a:ext cx="71882" cy="71881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10" name="object 10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Aparicio</a:t>
            </a:r>
            <a:r>
              <a:rPr spc="75" dirty="0"/>
              <a:t> </a:t>
            </a:r>
            <a:r>
              <a:rPr dirty="0"/>
              <a:t>Llanquipacha</a:t>
            </a:r>
            <a:r>
              <a:rPr spc="295" dirty="0"/>
              <a:t> </a:t>
            </a:r>
            <a:r>
              <a:rPr spc="-10" dirty="0"/>
              <a:t>(COM610)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463444" y="3125761"/>
            <a:ext cx="833119" cy="111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Sistema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Clínico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Dental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500" spc="-25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AWS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Semestre</a:t>
            </a:r>
            <a:r>
              <a:rPr spc="70" dirty="0"/>
              <a:t> </a:t>
            </a:r>
            <a:r>
              <a:rPr dirty="0"/>
              <a:t>2-</a:t>
            </a:r>
            <a:r>
              <a:rPr spc="-20" dirty="0"/>
              <a:t>2025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4</a:t>
            </a:fld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Estrategia </a:t>
            </a:r>
            <a:r>
              <a:rPr spc="-75" dirty="0"/>
              <a:t>de</a:t>
            </a:r>
            <a:r>
              <a:rPr spc="-70" dirty="0"/>
              <a:t> </a:t>
            </a:r>
            <a:r>
              <a:rPr spc="-65" dirty="0"/>
              <a:t>Seguridad</a:t>
            </a:r>
            <a:r>
              <a:rPr spc="-70" dirty="0"/>
              <a:t> </a:t>
            </a:r>
            <a:r>
              <a:rPr spc="-40" dirty="0"/>
              <a:t>y</a:t>
            </a:r>
            <a:r>
              <a:rPr spc="-65" dirty="0"/>
              <a:t> </a:t>
            </a:r>
            <a:r>
              <a:rPr spc="-40" dirty="0"/>
              <a:t>Automatización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0" y="575327"/>
            <a:ext cx="25253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80" dirty="0">
                <a:latin typeface="Arial Black"/>
                <a:cs typeface="Arial Black"/>
              </a:rPr>
              <a:t>1.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60" dirty="0">
                <a:latin typeface="Arial Black"/>
                <a:cs typeface="Arial Black"/>
              </a:rPr>
              <a:t>Seguridad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50" dirty="0">
                <a:latin typeface="Arial Black"/>
                <a:cs typeface="Arial Black"/>
              </a:rPr>
              <a:t>en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95" dirty="0">
                <a:latin typeface="Arial Black"/>
                <a:cs typeface="Arial Black"/>
              </a:rPr>
              <a:t>Capas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75" dirty="0">
                <a:latin typeface="Arial Black"/>
                <a:cs typeface="Arial Black"/>
              </a:rPr>
              <a:t>(Security</a:t>
            </a:r>
            <a:r>
              <a:rPr sz="1000" spc="-35" dirty="0">
                <a:latin typeface="Arial Black"/>
                <a:cs typeface="Arial Black"/>
              </a:rPr>
              <a:t> </a:t>
            </a:r>
            <a:r>
              <a:rPr sz="1000" spc="-40" dirty="0">
                <a:latin typeface="Arial Black"/>
                <a:cs typeface="Arial Black"/>
              </a:rPr>
              <a:t>Groups)</a:t>
            </a:r>
            <a:endParaRPr sz="1000">
              <a:latin typeface="Arial Black"/>
              <a:cs typeface="Arial Black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43073" y="865153"/>
          <a:ext cx="4873624" cy="930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7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95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50" spc="-10" dirty="0">
                          <a:latin typeface="Arial Black"/>
                          <a:cs typeface="Arial Black"/>
                        </a:rPr>
                        <a:t>Grupo</a:t>
                      </a:r>
                      <a:endParaRPr sz="1250">
                        <a:latin typeface="Arial Black"/>
                        <a:cs typeface="Arial Black"/>
                      </a:endParaRPr>
                    </a:p>
                  </a:txBody>
                  <a:tcPr marL="0" marR="0" marT="266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50" spc="-10" dirty="0">
                          <a:latin typeface="Arial Black"/>
                          <a:cs typeface="Arial Black"/>
                        </a:rPr>
                        <a:t>Puerto</a:t>
                      </a:r>
                      <a:endParaRPr sz="1250">
                        <a:latin typeface="Arial Black"/>
                        <a:cs typeface="Arial Black"/>
                      </a:endParaRPr>
                    </a:p>
                  </a:txBody>
                  <a:tcPr marL="0" marR="0" marT="266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50" spc="-45" dirty="0">
                          <a:latin typeface="Arial Black"/>
                          <a:cs typeface="Arial Black"/>
                        </a:rPr>
                        <a:t>Origen</a:t>
                      </a:r>
                      <a:r>
                        <a:rPr sz="1250" spc="-5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250" spc="-10" dirty="0">
                          <a:latin typeface="Arial Black"/>
                          <a:cs typeface="Arial Black"/>
                        </a:rPr>
                        <a:t>Permitido</a:t>
                      </a:r>
                      <a:endParaRPr sz="1250">
                        <a:latin typeface="Arial Black"/>
                        <a:cs typeface="Arial Black"/>
                      </a:endParaRPr>
                    </a:p>
                  </a:txBody>
                  <a:tcPr marL="0" marR="0" marT="266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35">
                <a:tc>
                  <a:txBody>
                    <a:bodyPr/>
                    <a:lstStyle/>
                    <a:p>
                      <a:pPr marL="95250">
                        <a:lnSpc>
                          <a:spcPts val="1415"/>
                        </a:lnSpc>
                        <a:spcBef>
                          <a:spcPts val="190"/>
                        </a:spcBef>
                      </a:pPr>
                      <a:r>
                        <a:rPr sz="1250" dirty="0">
                          <a:latin typeface="Arial MT"/>
                          <a:cs typeface="Arial MT"/>
                        </a:rPr>
                        <a:t>sg-alb-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public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415"/>
                        </a:lnSpc>
                        <a:spcBef>
                          <a:spcPts val="190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80/443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415"/>
                        </a:lnSpc>
                        <a:spcBef>
                          <a:spcPts val="190"/>
                        </a:spcBef>
                      </a:pPr>
                      <a:r>
                        <a:rPr sz="1250" dirty="0">
                          <a:latin typeface="Arial MT"/>
                          <a:cs typeface="Arial MT"/>
                        </a:rPr>
                        <a:t>0.0.0.0/0</a:t>
                      </a:r>
                      <a:r>
                        <a:rPr sz="125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(Internet)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95250">
                        <a:lnSpc>
                          <a:spcPts val="1400"/>
                        </a:lnSpc>
                      </a:pPr>
                      <a:r>
                        <a:rPr sz="1250" dirty="0">
                          <a:latin typeface="Arial MT"/>
                          <a:cs typeface="Arial MT"/>
                        </a:rPr>
                        <a:t>sg-backend-</a:t>
                      </a:r>
                      <a:r>
                        <a:rPr sz="1250" spc="-25" dirty="0">
                          <a:latin typeface="Arial MT"/>
                          <a:cs typeface="Arial MT"/>
                        </a:rPr>
                        <a:t>ec2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400"/>
                        </a:lnSpc>
                      </a:pPr>
                      <a:r>
                        <a:rPr sz="1250" spc="-20" dirty="0">
                          <a:latin typeface="Arial MT"/>
                          <a:cs typeface="Arial MT"/>
                        </a:rPr>
                        <a:t>3000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400"/>
                        </a:lnSpc>
                      </a:pPr>
                      <a:r>
                        <a:rPr sz="1250" dirty="0">
                          <a:latin typeface="Arial MT"/>
                          <a:cs typeface="Arial MT"/>
                        </a:rPr>
                        <a:t>Solo</a:t>
                      </a:r>
                      <a:r>
                        <a:rPr sz="1250" spc="1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tráfico</a:t>
                      </a:r>
                      <a:r>
                        <a:rPr sz="1250" spc="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desde</a:t>
                      </a:r>
                      <a:r>
                        <a:rPr sz="1250" spc="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70" dirty="0">
                          <a:latin typeface="Arial Black"/>
                          <a:cs typeface="Arial Black"/>
                        </a:rPr>
                        <a:t>sg-</a:t>
                      </a:r>
                      <a:r>
                        <a:rPr sz="1250" spc="-65" dirty="0">
                          <a:latin typeface="Arial Black"/>
                          <a:cs typeface="Arial Black"/>
                        </a:rPr>
                        <a:t>alb-</a:t>
                      </a:r>
                      <a:r>
                        <a:rPr sz="1250" spc="-10" dirty="0">
                          <a:latin typeface="Arial Black"/>
                          <a:cs typeface="Arial Black"/>
                        </a:rPr>
                        <a:t>public</a:t>
                      </a:r>
                      <a:endParaRPr sz="1250">
                        <a:latin typeface="Arial Black"/>
                        <a:cs typeface="Arial Black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95250">
                        <a:lnSpc>
                          <a:spcPts val="1485"/>
                        </a:lnSpc>
                      </a:pPr>
                      <a:r>
                        <a:rPr sz="1250" dirty="0">
                          <a:latin typeface="Arial MT"/>
                          <a:cs typeface="Arial MT"/>
                        </a:rPr>
                        <a:t>sg-db-</a:t>
                      </a:r>
                      <a:r>
                        <a:rPr sz="1250" spc="-25" dirty="0">
                          <a:latin typeface="Arial MT"/>
                          <a:cs typeface="Arial MT"/>
                        </a:rPr>
                        <a:t>rds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485"/>
                        </a:lnSpc>
                      </a:pPr>
                      <a:r>
                        <a:rPr sz="1250" spc="-20" dirty="0">
                          <a:latin typeface="Arial MT"/>
                          <a:cs typeface="Arial MT"/>
                        </a:rPr>
                        <a:t>5432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485"/>
                        </a:lnSpc>
                      </a:pPr>
                      <a:r>
                        <a:rPr sz="1250" dirty="0">
                          <a:latin typeface="Arial MT"/>
                          <a:cs typeface="Arial MT"/>
                        </a:rPr>
                        <a:t>Solo</a:t>
                      </a:r>
                      <a:r>
                        <a:rPr sz="1250" spc="1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tráfico</a:t>
                      </a:r>
                      <a:r>
                        <a:rPr sz="1250" spc="1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desde</a:t>
                      </a:r>
                      <a:r>
                        <a:rPr sz="1250" spc="1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80" dirty="0">
                          <a:latin typeface="Arial Black"/>
                          <a:cs typeface="Arial Black"/>
                        </a:rPr>
                        <a:t>sg-</a:t>
                      </a:r>
                      <a:r>
                        <a:rPr sz="1250" spc="-95" dirty="0">
                          <a:latin typeface="Arial Black"/>
                          <a:cs typeface="Arial Black"/>
                        </a:rPr>
                        <a:t>backend-</a:t>
                      </a:r>
                      <a:r>
                        <a:rPr sz="1250" spc="-25" dirty="0">
                          <a:latin typeface="Arial Black"/>
                          <a:cs typeface="Arial Black"/>
                        </a:rPr>
                        <a:t>ec2</a:t>
                      </a:r>
                      <a:endParaRPr sz="125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3830" y="1982893"/>
            <a:ext cx="2310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80" dirty="0">
                <a:latin typeface="Arial Black"/>
                <a:cs typeface="Arial Black"/>
              </a:rPr>
              <a:t>2.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Arial Black"/>
                <a:cs typeface="Arial Black"/>
              </a:rPr>
              <a:t>Automatización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70" dirty="0">
                <a:latin typeface="Arial Black"/>
                <a:cs typeface="Arial Black"/>
              </a:rPr>
              <a:t>(User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50" dirty="0">
                <a:latin typeface="Arial Black"/>
                <a:cs typeface="Arial Black"/>
              </a:rPr>
              <a:t>Data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60" dirty="0">
                <a:latin typeface="Arial Black"/>
                <a:cs typeface="Arial Black"/>
              </a:rPr>
              <a:t>Script)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962" y="2208148"/>
            <a:ext cx="5598160" cy="427990"/>
            <a:chOff x="80962" y="2208148"/>
            <a:chExt cx="5598160" cy="427990"/>
          </a:xfrm>
        </p:grpSpPr>
        <p:sp>
          <p:nvSpPr>
            <p:cNvPr id="7" name="object 7"/>
            <p:cNvSpPr/>
            <p:nvPr/>
          </p:nvSpPr>
          <p:spPr>
            <a:xfrm>
              <a:off x="83502" y="2210688"/>
              <a:ext cx="5593080" cy="43180"/>
            </a:xfrm>
            <a:custGeom>
              <a:avLst/>
              <a:gdLst/>
              <a:ahLst/>
              <a:cxnLst/>
              <a:rect l="l" t="t" r="r" b="b"/>
              <a:pathLst>
                <a:path w="5593080" h="43180">
                  <a:moveTo>
                    <a:pt x="5592991" y="0"/>
                  </a:moveTo>
                  <a:lnTo>
                    <a:pt x="0" y="0"/>
                  </a:lnTo>
                  <a:lnTo>
                    <a:pt x="0" y="43014"/>
                  </a:lnTo>
                  <a:lnTo>
                    <a:pt x="5592991" y="43014"/>
                  </a:lnTo>
                  <a:lnTo>
                    <a:pt x="559299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042" y="2210688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3502" y="2213216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6530" y="2213216"/>
              <a:ext cx="5507355" cy="0"/>
            </a:xfrm>
            <a:custGeom>
              <a:avLst/>
              <a:gdLst/>
              <a:ahLst/>
              <a:cxnLst/>
              <a:rect l="l" t="t" r="r" b="b"/>
              <a:pathLst>
                <a:path w="5507355">
                  <a:moveTo>
                    <a:pt x="0" y="0"/>
                  </a:moveTo>
                  <a:lnTo>
                    <a:pt x="550694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33478" y="2213216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73966" y="2210688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8569" y="2253703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37960" y="0"/>
                  </a:moveTo>
                  <a:lnTo>
                    <a:pt x="0" y="0"/>
                  </a:lnTo>
                  <a:lnTo>
                    <a:pt x="0" y="75920"/>
                  </a:lnTo>
                  <a:lnTo>
                    <a:pt x="37960" y="75920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042" y="2253703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042" y="2253703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6530" y="2253703"/>
              <a:ext cx="5545455" cy="76200"/>
            </a:xfrm>
            <a:custGeom>
              <a:avLst/>
              <a:gdLst/>
              <a:ahLst/>
              <a:cxnLst/>
              <a:rect l="l" t="t" r="r" b="b"/>
              <a:pathLst>
                <a:path w="5545455" h="76200">
                  <a:moveTo>
                    <a:pt x="5544909" y="0"/>
                  </a:moveTo>
                  <a:lnTo>
                    <a:pt x="5506948" y="0"/>
                  </a:lnTo>
                  <a:lnTo>
                    <a:pt x="0" y="0"/>
                  </a:lnTo>
                  <a:lnTo>
                    <a:pt x="0" y="75920"/>
                  </a:lnTo>
                  <a:lnTo>
                    <a:pt x="5506948" y="75920"/>
                  </a:lnTo>
                  <a:lnTo>
                    <a:pt x="5544909" y="75920"/>
                  </a:lnTo>
                  <a:lnTo>
                    <a:pt x="55449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73966" y="2253703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73966" y="2253703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8569" y="2329611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37960" y="0"/>
                  </a:moveTo>
                  <a:lnTo>
                    <a:pt x="0" y="0"/>
                  </a:lnTo>
                  <a:lnTo>
                    <a:pt x="0" y="75920"/>
                  </a:lnTo>
                  <a:lnTo>
                    <a:pt x="37960" y="75920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6042" y="2329611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6042" y="2329611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6530" y="2329611"/>
              <a:ext cx="5545455" cy="76200"/>
            </a:xfrm>
            <a:custGeom>
              <a:avLst/>
              <a:gdLst/>
              <a:ahLst/>
              <a:cxnLst/>
              <a:rect l="l" t="t" r="r" b="b"/>
              <a:pathLst>
                <a:path w="5545455" h="76200">
                  <a:moveTo>
                    <a:pt x="5544909" y="0"/>
                  </a:moveTo>
                  <a:lnTo>
                    <a:pt x="5506948" y="0"/>
                  </a:lnTo>
                  <a:lnTo>
                    <a:pt x="0" y="0"/>
                  </a:lnTo>
                  <a:lnTo>
                    <a:pt x="0" y="75920"/>
                  </a:lnTo>
                  <a:lnTo>
                    <a:pt x="5506948" y="75920"/>
                  </a:lnTo>
                  <a:lnTo>
                    <a:pt x="5544909" y="75920"/>
                  </a:lnTo>
                  <a:lnTo>
                    <a:pt x="55449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73966" y="2329611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73966" y="2329611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8569" y="2405532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37960" y="0"/>
                  </a:moveTo>
                  <a:lnTo>
                    <a:pt x="0" y="0"/>
                  </a:lnTo>
                  <a:lnTo>
                    <a:pt x="0" y="75920"/>
                  </a:lnTo>
                  <a:lnTo>
                    <a:pt x="37960" y="75920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6042" y="2405532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042" y="2405532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6530" y="2405532"/>
              <a:ext cx="5545455" cy="76200"/>
            </a:xfrm>
            <a:custGeom>
              <a:avLst/>
              <a:gdLst/>
              <a:ahLst/>
              <a:cxnLst/>
              <a:rect l="l" t="t" r="r" b="b"/>
              <a:pathLst>
                <a:path w="5545455" h="76200">
                  <a:moveTo>
                    <a:pt x="5544909" y="0"/>
                  </a:moveTo>
                  <a:lnTo>
                    <a:pt x="5506948" y="0"/>
                  </a:lnTo>
                  <a:lnTo>
                    <a:pt x="0" y="0"/>
                  </a:lnTo>
                  <a:lnTo>
                    <a:pt x="0" y="75920"/>
                  </a:lnTo>
                  <a:lnTo>
                    <a:pt x="5506948" y="75920"/>
                  </a:lnTo>
                  <a:lnTo>
                    <a:pt x="5544909" y="75920"/>
                  </a:lnTo>
                  <a:lnTo>
                    <a:pt x="55449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73966" y="2405532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73966" y="2405532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8569" y="2481440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37960" y="0"/>
                  </a:moveTo>
                  <a:lnTo>
                    <a:pt x="0" y="0"/>
                  </a:lnTo>
                  <a:lnTo>
                    <a:pt x="0" y="75920"/>
                  </a:lnTo>
                  <a:lnTo>
                    <a:pt x="37960" y="75920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6042" y="248144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6042" y="248144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6530" y="2481440"/>
              <a:ext cx="5545455" cy="76200"/>
            </a:xfrm>
            <a:custGeom>
              <a:avLst/>
              <a:gdLst/>
              <a:ahLst/>
              <a:cxnLst/>
              <a:rect l="l" t="t" r="r" b="b"/>
              <a:pathLst>
                <a:path w="5545455" h="76200">
                  <a:moveTo>
                    <a:pt x="5544909" y="0"/>
                  </a:moveTo>
                  <a:lnTo>
                    <a:pt x="5506948" y="0"/>
                  </a:lnTo>
                  <a:lnTo>
                    <a:pt x="0" y="0"/>
                  </a:lnTo>
                  <a:lnTo>
                    <a:pt x="0" y="75920"/>
                  </a:lnTo>
                  <a:lnTo>
                    <a:pt x="5506948" y="75920"/>
                  </a:lnTo>
                  <a:lnTo>
                    <a:pt x="5544909" y="75920"/>
                  </a:lnTo>
                  <a:lnTo>
                    <a:pt x="55449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673966" y="248144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73966" y="248144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8569" y="2557360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37960" y="0"/>
                  </a:moveTo>
                  <a:lnTo>
                    <a:pt x="0" y="0"/>
                  </a:lnTo>
                  <a:lnTo>
                    <a:pt x="0" y="75920"/>
                  </a:lnTo>
                  <a:lnTo>
                    <a:pt x="37960" y="75920"/>
                  </a:lnTo>
                  <a:lnTo>
                    <a:pt x="3796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6042" y="255736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6042" y="255736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6530" y="2557360"/>
              <a:ext cx="5545455" cy="76200"/>
            </a:xfrm>
            <a:custGeom>
              <a:avLst/>
              <a:gdLst/>
              <a:ahLst/>
              <a:cxnLst/>
              <a:rect l="l" t="t" r="r" b="b"/>
              <a:pathLst>
                <a:path w="5545455" h="76200">
                  <a:moveTo>
                    <a:pt x="5544909" y="0"/>
                  </a:moveTo>
                  <a:lnTo>
                    <a:pt x="5506948" y="0"/>
                  </a:lnTo>
                  <a:lnTo>
                    <a:pt x="0" y="0"/>
                  </a:lnTo>
                  <a:lnTo>
                    <a:pt x="0" y="75920"/>
                  </a:lnTo>
                  <a:lnTo>
                    <a:pt x="5506948" y="75920"/>
                  </a:lnTo>
                  <a:lnTo>
                    <a:pt x="5544909" y="75920"/>
                  </a:lnTo>
                  <a:lnTo>
                    <a:pt x="55449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73966" y="255736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673966" y="255736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592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8569" y="2230877"/>
            <a:ext cx="5582920" cy="405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1770">
              <a:lnSpc>
                <a:spcPts val="600"/>
              </a:lnSpc>
              <a:spcBef>
                <a:spcPts val="95"/>
              </a:spcBef>
            </a:pPr>
            <a:r>
              <a:rPr sz="500" spc="40" dirty="0">
                <a:solidFill>
                  <a:srgbClr val="7F7F7F"/>
                </a:solidFill>
                <a:latin typeface="Cambria"/>
                <a:cs typeface="Cambria"/>
              </a:rPr>
              <a:t>#!/</a:t>
            </a:r>
            <a:r>
              <a:rPr sz="500" spc="-40" dirty="0">
                <a:solidFill>
                  <a:srgbClr val="7F7F7F"/>
                </a:solidFill>
                <a:latin typeface="Cambria"/>
                <a:cs typeface="Cambria"/>
              </a:rPr>
              <a:t> </a:t>
            </a:r>
            <a:r>
              <a:rPr sz="500" spc="35" dirty="0">
                <a:solidFill>
                  <a:srgbClr val="7F7F7F"/>
                </a:solidFill>
                <a:latin typeface="Cambria"/>
                <a:cs typeface="Cambria"/>
              </a:rPr>
              <a:t>bin/bash</a:t>
            </a:r>
            <a:endParaRPr sz="500">
              <a:latin typeface="Cambria"/>
              <a:cs typeface="Cambria"/>
            </a:endParaRPr>
          </a:p>
          <a:p>
            <a:pPr marL="191770">
              <a:lnSpc>
                <a:spcPts val="600"/>
              </a:lnSpc>
            </a:pPr>
            <a:r>
              <a:rPr sz="500" dirty="0">
                <a:solidFill>
                  <a:srgbClr val="7F7F7F"/>
                </a:solidFill>
                <a:latin typeface="Cambria"/>
                <a:cs typeface="Cambria"/>
              </a:rPr>
              <a:t>#</a:t>
            </a:r>
            <a:r>
              <a:rPr sz="500" spc="320" dirty="0">
                <a:solidFill>
                  <a:srgbClr val="7F7F7F"/>
                </a:solidFill>
                <a:latin typeface="Cambria"/>
                <a:cs typeface="Cambria"/>
              </a:rPr>
              <a:t> </a:t>
            </a:r>
            <a:r>
              <a:rPr sz="500" spc="75" dirty="0">
                <a:solidFill>
                  <a:srgbClr val="7F7F7F"/>
                </a:solidFill>
                <a:latin typeface="Cambria"/>
                <a:cs typeface="Cambria"/>
              </a:rPr>
              <a:t>Instalacion</a:t>
            </a:r>
            <a:r>
              <a:rPr sz="500" spc="330" dirty="0">
                <a:solidFill>
                  <a:srgbClr val="7F7F7F"/>
                </a:solidFill>
                <a:latin typeface="Cambria"/>
                <a:cs typeface="Cambria"/>
              </a:rPr>
              <a:t> </a:t>
            </a:r>
            <a:r>
              <a:rPr sz="500" dirty="0">
                <a:solidFill>
                  <a:srgbClr val="7F7F7F"/>
                </a:solidFill>
                <a:latin typeface="Cambria"/>
                <a:cs typeface="Cambria"/>
              </a:rPr>
              <a:t>de</a:t>
            </a:r>
            <a:r>
              <a:rPr sz="500" spc="320" dirty="0">
                <a:solidFill>
                  <a:srgbClr val="7F7F7F"/>
                </a:solidFill>
                <a:latin typeface="Cambria"/>
                <a:cs typeface="Cambria"/>
              </a:rPr>
              <a:t> </a:t>
            </a:r>
            <a:r>
              <a:rPr sz="500" dirty="0">
                <a:solidFill>
                  <a:srgbClr val="7F7F7F"/>
                </a:solidFill>
                <a:latin typeface="Cambria"/>
                <a:cs typeface="Cambria"/>
              </a:rPr>
              <a:t>Node,</a:t>
            </a:r>
            <a:r>
              <a:rPr sz="500" spc="320" dirty="0">
                <a:solidFill>
                  <a:srgbClr val="7F7F7F"/>
                </a:solidFill>
                <a:latin typeface="Cambria"/>
                <a:cs typeface="Cambria"/>
              </a:rPr>
              <a:t> </a:t>
            </a:r>
            <a:r>
              <a:rPr sz="500" dirty="0">
                <a:solidFill>
                  <a:srgbClr val="7F7F7F"/>
                </a:solidFill>
                <a:latin typeface="Cambria"/>
                <a:cs typeface="Cambria"/>
              </a:rPr>
              <a:t>Clonado</a:t>
            </a:r>
            <a:r>
              <a:rPr sz="500" spc="330" dirty="0">
                <a:solidFill>
                  <a:srgbClr val="7F7F7F"/>
                </a:solidFill>
                <a:latin typeface="Cambria"/>
                <a:cs typeface="Cambria"/>
              </a:rPr>
              <a:t> </a:t>
            </a:r>
            <a:r>
              <a:rPr sz="500" dirty="0">
                <a:solidFill>
                  <a:srgbClr val="7F7F7F"/>
                </a:solidFill>
                <a:latin typeface="Cambria"/>
                <a:cs typeface="Cambria"/>
              </a:rPr>
              <a:t>de</a:t>
            </a:r>
            <a:r>
              <a:rPr sz="500" spc="325" dirty="0">
                <a:solidFill>
                  <a:srgbClr val="7F7F7F"/>
                </a:solidFill>
                <a:latin typeface="Cambria"/>
                <a:cs typeface="Cambria"/>
              </a:rPr>
              <a:t> </a:t>
            </a:r>
            <a:r>
              <a:rPr sz="500" dirty="0">
                <a:solidFill>
                  <a:srgbClr val="7F7F7F"/>
                </a:solidFill>
                <a:latin typeface="Cambria"/>
                <a:cs typeface="Cambria"/>
              </a:rPr>
              <a:t>Repo</a:t>
            </a:r>
            <a:r>
              <a:rPr sz="500" spc="315" dirty="0">
                <a:solidFill>
                  <a:srgbClr val="7F7F7F"/>
                </a:solidFill>
                <a:latin typeface="Cambria"/>
                <a:cs typeface="Cambria"/>
              </a:rPr>
              <a:t> </a:t>
            </a:r>
            <a:r>
              <a:rPr sz="500" dirty="0">
                <a:solidFill>
                  <a:srgbClr val="7F7F7F"/>
                </a:solidFill>
                <a:latin typeface="Cambria"/>
                <a:cs typeface="Cambria"/>
              </a:rPr>
              <a:t>y</a:t>
            </a:r>
            <a:r>
              <a:rPr sz="500" spc="325" dirty="0">
                <a:solidFill>
                  <a:srgbClr val="7F7F7F"/>
                </a:solidFill>
                <a:latin typeface="Cambria"/>
                <a:cs typeface="Cambria"/>
              </a:rPr>
              <a:t> </a:t>
            </a:r>
            <a:r>
              <a:rPr sz="500" dirty="0">
                <a:solidFill>
                  <a:srgbClr val="7F7F7F"/>
                </a:solidFill>
                <a:latin typeface="Cambria"/>
                <a:cs typeface="Cambria"/>
              </a:rPr>
              <a:t>Arranque</a:t>
            </a:r>
            <a:r>
              <a:rPr sz="500" spc="335" dirty="0">
                <a:solidFill>
                  <a:srgbClr val="7F7F7F"/>
                </a:solidFill>
                <a:latin typeface="Cambria"/>
                <a:cs typeface="Cambria"/>
              </a:rPr>
              <a:t> </a:t>
            </a:r>
            <a:r>
              <a:rPr sz="500" dirty="0">
                <a:solidFill>
                  <a:srgbClr val="7F7F7F"/>
                </a:solidFill>
                <a:latin typeface="Cambria"/>
                <a:cs typeface="Cambria"/>
              </a:rPr>
              <a:t>con</a:t>
            </a:r>
            <a:r>
              <a:rPr sz="500" spc="330" dirty="0">
                <a:solidFill>
                  <a:srgbClr val="7F7F7F"/>
                </a:solidFill>
                <a:latin typeface="Cambria"/>
                <a:cs typeface="Cambria"/>
              </a:rPr>
              <a:t> </a:t>
            </a:r>
            <a:r>
              <a:rPr sz="500" spc="-25" dirty="0">
                <a:solidFill>
                  <a:srgbClr val="7F7F7F"/>
                </a:solidFill>
                <a:latin typeface="Cambria"/>
                <a:cs typeface="Cambria"/>
              </a:rPr>
              <a:t>PM2</a:t>
            </a:r>
            <a:endParaRPr sz="500">
              <a:latin typeface="Cambria"/>
              <a:cs typeface="Cambria"/>
            </a:endParaRPr>
          </a:p>
          <a:p>
            <a:pPr marL="193040" marR="2767965">
              <a:lnSpc>
                <a:spcPts val="600"/>
              </a:lnSpc>
              <a:spcBef>
                <a:spcPts val="20"/>
              </a:spcBef>
            </a:pPr>
            <a:r>
              <a:rPr sz="500" spc="90" dirty="0">
                <a:latin typeface="Cambria"/>
                <a:cs typeface="Cambria"/>
              </a:rPr>
              <a:t>git</a:t>
            </a:r>
            <a:r>
              <a:rPr sz="500" spc="290" dirty="0">
                <a:latin typeface="Cambria"/>
                <a:cs typeface="Cambria"/>
              </a:rPr>
              <a:t> </a:t>
            </a:r>
            <a:r>
              <a:rPr sz="500" spc="50" dirty="0">
                <a:latin typeface="Cambria"/>
                <a:cs typeface="Cambria"/>
              </a:rPr>
              <a:t>clone</a:t>
            </a:r>
            <a:r>
              <a:rPr sz="500" spc="300" dirty="0">
                <a:latin typeface="Cambria"/>
                <a:cs typeface="Cambria"/>
              </a:rPr>
              <a:t> </a:t>
            </a:r>
            <a:r>
              <a:rPr sz="500" spc="65" dirty="0">
                <a:latin typeface="Cambria"/>
                <a:cs typeface="Cambria"/>
              </a:rPr>
              <a:t>https://</a:t>
            </a:r>
            <a:r>
              <a:rPr sz="500" spc="-45" dirty="0">
                <a:latin typeface="Cambria"/>
                <a:cs typeface="Cambria"/>
              </a:rPr>
              <a:t> </a:t>
            </a:r>
            <a:r>
              <a:rPr sz="500" spc="50" dirty="0">
                <a:latin typeface="Cambria"/>
                <a:cs typeface="Cambria"/>
              </a:rPr>
              <a:t>github.com/Deus-</a:t>
            </a:r>
            <a:r>
              <a:rPr sz="500" spc="70" dirty="0">
                <a:latin typeface="Cambria"/>
                <a:cs typeface="Cambria"/>
              </a:rPr>
              <a:t>Ex-</a:t>
            </a:r>
            <a:r>
              <a:rPr sz="500" spc="-10" dirty="0">
                <a:latin typeface="Cambria"/>
                <a:cs typeface="Cambria"/>
              </a:rPr>
              <a:t>Umbra/COM610</a:t>
            </a:r>
            <a:r>
              <a:rPr sz="500" spc="-35" dirty="0">
                <a:latin typeface="Cambria"/>
                <a:cs typeface="Cambria"/>
              </a:rPr>
              <a:t> </a:t>
            </a:r>
            <a:r>
              <a:rPr sz="500" spc="120" dirty="0">
                <a:latin typeface="Cambria"/>
                <a:cs typeface="Cambria"/>
              </a:rPr>
              <a:t>-</a:t>
            </a:r>
            <a:r>
              <a:rPr sz="500" spc="-20" dirty="0">
                <a:latin typeface="Cambria"/>
                <a:cs typeface="Cambria"/>
              </a:rPr>
              <a:t>0</a:t>
            </a:r>
            <a:r>
              <a:rPr sz="500" spc="-55" dirty="0">
                <a:latin typeface="Cambria"/>
                <a:cs typeface="Cambria"/>
              </a:rPr>
              <a:t> </a:t>
            </a:r>
            <a:r>
              <a:rPr sz="500" spc="60" dirty="0">
                <a:latin typeface="Cambria"/>
                <a:cs typeface="Cambria"/>
              </a:rPr>
              <a:t>d3nt-</a:t>
            </a:r>
            <a:r>
              <a:rPr sz="500" spc="65" dirty="0">
                <a:latin typeface="Cambria"/>
                <a:cs typeface="Cambria"/>
              </a:rPr>
              <a:t>backend.git</a:t>
            </a:r>
            <a:r>
              <a:rPr sz="500" spc="280" dirty="0">
                <a:latin typeface="Cambria"/>
                <a:cs typeface="Cambria"/>
              </a:rPr>
              <a:t> </a:t>
            </a:r>
            <a:r>
              <a:rPr sz="500" spc="110" dirty="0">
                <a:latin typeface="Cambria"/>
                <a:cs typeface="Cambria"/>
              </a:rPr>
              <a:t>. </a:t>
            </a:r>
            <a:r>
              <a:rPr sz="500" dirty="0">
                <a:latin typeface="Cambria"/>
                <a:cs typeface="Cambria"/>
              </a:rPr>
              <a:t>npm</a:t>
            </a:r>
            <a:r>
              <a:rPr sz="500" spc="190" dirty="0">
                <a:latin typeface="Cambria"/>
                <a:cs typeface="Cambria"/>
              </a:rPr>
              <a:t> </a:t>
            </a:r>
            <a:r>
              <a:rPr sz="500" spc="95" dirty="0">
                <a:latin typeface="Cambria"/>
                <a:cs typeface="Cambria"/>
              </a:rPr>
              <a:t>install</a:t>
            </a:r>
            <a:r>
              <a:rPr sz="500" spc="195" dirty="0">
                <a:latin typeface="Cambria"/>
                <a:cs typeface="Cambria"/>
              </a:rPr>
              <a:t> </a:t>
            </a:r>
            <a:r>
              <a:rPr sz="500" spc="-25" dirty="0">
                <a:latin typeface="Cambria"/>
                <a:cs typeface="Cambria"/>
              </a:rPr>
              <a:t>&amp;&amp;</a:t>
            </a:r>
            <a:r>
              <a:rPr sz="500" spc="190" dirty="0">
                <a:latin typeface="Cambria"/>
                <a:cs typeface="Cambria"/>
              </a:rPr>
              <a:t> </a:t>
            </a:r>
            <a:r>
              <a:rPr sz="500" dirty="0">
                <a:latin typeface="Cambria"/>
                <a:cs typeface="Cambria"/>
              </a:rPr>
              <a:t>npm</a:t>
            </a:r>
            <a:r>
              <a:rPr sz="500" spc="195" dirty="0">
                <a:latin typeface="Cambria"/>
                <a:cs typeface="Cambria"/>
              </a:rPr>
              <a:t> </a:t>
            </a:r>
            <a:r>
              <a:rPr sz="500" dirty="0">
                <a:latin typeface="Cambria"/>
                <a:cs typeface="Cambria"/>
              </a:rPr>
              <a:t>run</a:t>
            </a:r>
            <a:r>
              <a:rPr sz="500" spc="195" dirty="0">
                <a:latin typeface="Cambria"/>
                <a:cs typeface="Cambria"/>
              </a:rPr>
              <a:t> </a:t>
            </a:r>
            <a:r>
              <a:rPr sz="500" spc="50" dirty="0">
                <a:latin typeface="Cambria"/>
                <a:cs typeface="Cambria"/>
              </a:rPr>
              <a:t>build</a:t>
            </a:r>
            <a:endParaRPr sz="500">
              <a:latin typeface="Cambria"/>
              <a:cs typeface="Cambria"/>
            </a:endParaRPr>
          </a:p>
          <a:p>
            <a:pPr marL="193040">
              <a:lnSpc>
                <a:spcPts val="575"/>
              </a:lnSpc>
            </a:pPr>
            <a:r>
              <a:rPr sz="500" dirty="0">
                <a:latin typeface="Cambria"/>
                <a:cs typeface="Cambria"/>
              </a:rPr>
              <a:t>pm2</a:t>
            </a:r>
            <a:r>
              <a:rPr sz="500" spc="204" dirty="0">
                <a:latin typeface="Cambria"/>
                <a:cs typeface="Cambria"/>
              </a:rPr>
              <a:t> </a:t>
            </a:r>
            <a:r>
              <a:rPr sz="500" spc="75" dirty="0">
                <a:latin typeface="Cambria"/>
                <a:cs typeface="Cambria"/>
              </a:rPr>
              <a:t>start</a:t>
            </a:r>
            <a:r>
              <a:rPr sz="500" spc="210" dirty="0">
                <a:latin typeface="Cambria"/>
                <a:cs typeface="Cambria"/>
              </a:rPr>
              <a:t> </a:t>
            </a:r>
            <a:r>
              <a:rPr sz="500" spc="75" dirty="0">
                <a:latin typeface="Cambria"/>
                <a:cs typeface="Cambria"/>
              </a:rPr>
              <a:t>dist/main.js</a:t>
            </a:r>
            <a:r>
              <a:rPr sz="500" spc="210" dirty="0">
                <a:latin typeface="Cambria"/>
                <a:cs typeface="Cambria"/>
              </a:rPr>
              <a:t> </a:t>
            </a:r>
            <a:r>
              <a:rPr sz="500" spc="125" dirty="0">
                <a:latin typeface="Cambria"/>
                <a:cs typeface="Cambria"/>
              </a:rPr>
              <a:t>-</a:t>
            </a:r>
            <a:r>
              <a:rPr sz="500" spc="140" dirty="0">
                <a:latin typeface="Cambria"/>
                <a:cs typeface="Cambria"/>
              </a:rPr>
              <a:t>-</a:t>
            </a:r>
            <a:r>
              <a:rPr sz="500" dirty="0">
                <a:latin typeface="Cambria"/>
                <a:cs typeface="Cambria"/>
              </a:rPr>
              <a:t>name</a:t>
            </a:r>
            <a:r>
              <a:rPr sz="500" spc="210" dirty="0">
                <a:latin typeface="Cambria"/>
                <a:cs typeface="Cambria"/>
              </a:rPr>
              <a:t> </a:t>
            </a:r>
            <a:r>
              <a:rPr sz="500" spc="45" dirty="0">
                <a:solidFill>
                  <a:srgbClr val="50A04E"/>
                </a:solidFill>
                <a:latin typeface="Cambria"/>
                <a:cs typeface="Cambria"/>
              </a:rPr>
              <a:t>'backend</a:t>
            </a:r>
            <a:r>
              <a:rPr sz="500" spc="-40" dirty="0">
                <a:solidFill>
                  <a:srgbClr val="50A04E"/>
                </a:solidFill>
                <a:latin typeface="Cambria"/>
                <a:cs typeface="Cambria"/>
              </a:rPr>
              <a:t> </a:t>
            </a:r>
            <a:r>
              <a:rPr sz="500" spc="140" dirty="0">
                <a:solidFill>
                  <a:srgbClr val="50A04E"/>
                </a:solidFill>
                <a:latin typeface="Cambria"/>
                <a:cs typeface="Cambria"/>
              </a:rPr>
              <a:t>-</a:t>
            </a:r>
            <a:r>
              <a:rPr sz="500" spc="70" dirty="0">
                <a:solidFill>
                  <a:srgbClr val="50A04E"/>
                </a:solidFill>
                <a:latin typeface="Cambria"/>
                <a:cs typeface="Cambria"/>
              </a:rPr>
              <a:t>api'</a:t>
            </a:r>
            <a:endParaRPr sz="500">
              <a:latin typeface="Cambria"/>
              <a:cs typeface="Cambr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3502" y="2633281"/>
            <a:ext cx="5593080" cy="43180"/>
            <a:chOff x="83502" y="2633281"/>
            <a:chExt cx="5593080" cy="43180"/>
          </a:xfrm>
        </p:grpSpPr>
        <p:sp>
          <p:nvSpPr>
            <p:cNvPr id="45" name="object 45"/>
            <p:cNvSpPr/>
            <p:nvPr/>
          </p:nvSpPr>
          <p:spPr>
            <a:xfrm>
              <a:off x="83502" y="2633281"/>
              <a:ext cx="5593080" cy="43180"/>
            </a:xfrm>
            <a:custGeom>
              <a:avLst/>
              <a:gdLst/>
              <a:ahLst/>
              <a:cxnLst/>
              <a:rect l="l" t="t" r="r" b="b"/>
              <a:pathLst>
                <a:path w="5593080" h="43180">
                  <a:moveTo>
                    <a:pt x="5592991" y="0"/>
                  </a:moveTo>
                  <a:lnTo>
                    <a:pt x="0" y="0"/>
                  </a:lnTo>
                  <a:lnTo>
                    <a:pt x="0" y="43014"/>
                  </a:lnTo>
                  <a:lnTo>
                    <a:pt x="5592991" y="43014"/>
                  </a:lnTo>
                  <a:lnTo>
                    <a:pt x="559299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6042" y="2633281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3502" y="2673769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26530" y="2673769"/>
              <a:ext cx="5507355" cy="0"/>
            </a:xfrm>
            <a:custGeom>
              <a:avLst/>
              <a:gdLst/>
              <a:ahLst/>
              <a:cxnLst/>
              <a:rect l="l" t="t" r="r" b="b"/>
              <a:pathLst>
                <a:path w="5507355">
                  <a:moveTo>
                    <a:pt x="0" y="0"/>
                  </a:moveTo>
                  <a:lnTo>
                    <a:pt x="550694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633478" y="2673769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673966" y="2633281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52" name="object 52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Aparicio</a:t>
            </a:r>
            <a:r>
              <a:rPr spc="75" dirty="0"/>
              <a:t> </a:t>
            </a:r>
            <a:r>
              <a:rPr dirty="0"/>
              <a:t>Llanquipacha</a:t>
            </a:r>
            <a:r>
              <a:rPr spc="295" dirty="0"/>
              <a:t> </a:t>
            </a:r>
            <a:r>
              <a:rPr spc="-10" dirty="0"/>
              <a:t>(COM610)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2463444" y="3125761"/>
            <a:ext cx="833119" cy="111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Sistema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Clínico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Dental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500" spc="-2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AWS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Semestre</a:t>
            </a:r>
            <a:r>
              <a:rPr spc="70" dirty="0"/>
              <a:t> </a:t>
            </a:r>
            <a:r>
              <a:rPr dirty="0"/>
              <a:t>2-</a:t>
            </a:r>
            <a:r>
              <a:rPr spc="-20" dirty="0"/>
              <a:t>2025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5</a:t>
            </a:fld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object 15"/>
          <p:cNvGrpSpPr/>
          <p:nvPr/>
        </p:nvGrpSpPr>
        <p:grpSpPr>
          <a:xfrm>
            <a:off x="2871380" y="1396695"/>
            <a:ext cx="2888615" cy="970280"/>
            <a:chOff x="2871380" y="1396695"/>
            <a:chExt cx="2888615" cy="97028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1380" y="1543113"/>
              <a:ext cx="2855111" cy="5060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922180" y="1396695"/>
              <a:ext cx="2837815" cy="970280"/>
            </a:xfrm>
            <a:custGeom>
              <a:avLst/>
              <a:gdLst/>
              <a:ahLst/>
              <a:cxnLst/>
              <a:rect l="l" t="t" r="r" b="b"/>
              <a:pathLst>
                <a:path w="2837815" h="970280">
                  <a:moveTo>
                    <a:pt x="2837814" y="0"/>
                  </a:moveTo>
                  <a:lnTo>
                    <a:pt x="0" y="0"/>
                  </a:lnTo>
                  <a:lnTo>
                    <a:pt x="0" y="969925"/>
                  </a:lnTo>
                  <a:lnTo>
                    <a:pt x="2837814" y="969925"/>
                  </a:lnTo>
                  <a:lnTo>
                    <a:pt x="28378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71380" y="1587387"/>
              <a:ext cx="2855595" cy="728980"/>
            </a:xfrm>
            <a:custGeom>
              <a:avLst/>
              <a:gdLst/>
              <a:ahLst/>
              <a:cxnLst/>
              <a:rect l="l" t="t" r="r" b="b"/>
              <a:pathLst>
                <a:path w="2855595" h="728980">
                  <a:moveTo>
                    <a:pt x="2855111" y="0"/>
                  </a:moveTo>
                  <a:lnTo>
                    <a:pt x="0" y="0"/>
                  </a:lnTo>
                  <a:lnTo>
                    <a:pt x="0" y="677632"/>
                  </a:lnTo>
                  <a:lnTo>
                    <a:pt x="4008" y="697356"/>
                  </a:lnTo>
                  <a:lnTo>
                    <a:pt x="14922" y="713509"/>
                  </a:lnTo>
                  <a:lnTo>
                    <a:pt x="31075" y="724424"/>
                  </a:lnTo>
                  <a:lnTo>
                    <a:pt x="50800" y="728432"/>
                  </a:lnTo>
                  <a:lnTo>
                    <a:pt x="2804310" y="728432"/>
                  </a:lnTo>
                  <a:lnTo>
                    <a:pt x="2824035" y="724424"/>
                  </a:lnTo>
                  <a:lnTo>
                    <a:pt x="2840188" y="713509"/>
                  </a:lnTo>
                  <a:lnTo>
                    <a:pt x="2851102" y="697356"/>
                  </a:lnTo>
                  <a:lnTo>
                    <a:pt x="2855111" y="677632"/>
                  </a:lnTo>
                  <a:lnTo>
                    <a:pt x="2855111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075" y="1824990"/>
              <a:ext cx="71881" cy="7188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0075" y="2166607"/>
              <a:ext cx="71881" cy="71881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33552" y="1396695"/>
            <a:ext cx="2906395" cy="962961"/>
            <a:chOff x="33552" y="1403981"/>
            <a:chExt cx="2906395" cy="95567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52" y="1538096"/>
              <a:ext cx="2855111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4353" y="1403981"/>
              <a:ext cx="2855595" cy="955675"/>
            </a:xfrm>
            <a:custGeom>
              <a:avLst/>
              <a:gdLst/>
              <a:ahLst/>
              <a:cxnLst/>
              <a:rect l="l" t="t" r="r" b="b"/>
              <a:pathLst>
                <a:path w="2855595" h="955675">
                  <a:moveTo>
                    <a:pt x="2855111" y="0"/>
                  </a:moveTo>
                  <a:lnTo>
                    <a:pt x="0" y="0"/>
                  </a:lnTo>
                  <a:lnTo>
                    <a:pt x="0" y="955349"/>
                  </a:lnTo>
                  <a:lnTo>
                    <a:pt x="2855111" y="955349"/>
                  </a:lnTo>
                  <a:lnTo>
                    <a:pt x="28551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552" y="1582374"/>
              <a:ext cx="2855595" cy="726440"/>
            </a:xfrm>
            <a:custGeom>
              <a:avLst/>
              <a:gdLst/>
              <a:ahLst/>
              <a:cxnLst/>
              <a:rect l="l" t="t" r="r" b="b"/>
              <a:pathLst>
                <a:path w="2855595" h="726439">
                  <a:moveTo>
                    <a:pt x="2855111" y="0"/>
                  </a:moveTo>
                  <a:lnTo>
                    <a:pt x="0" y="0"/>
                  </a:lnTo>
                  <a:lnTo>
                    <a:pt x="0" y="675354"/>
                  </a:lnTo>
                  <a:lnTo>
                    <a:pt x="4008" y="695079"/>
                  </a:lnTo>
                  <a:lnTo>
                    <a:pt x="14922" y="711232"/>
                  </a:lnTo>
                  <a:lnTo>
                    <a:pt x="31075" y="722146"/>
                  </a:lnTo>
                  <a:lnTo>
                    <a:pt x="50800" y="726155"/>
                  </a:lnTo>
                  <a:lnTo>
                    <a:pt x="2804310" y="726155"/>
                  </a:lnTo>
                  <a:lnTo>
                    <a:pt x="2824035" y="722146"/>
                  </a:lnTo>
                  <a:lnTo>
                    <a:pt x="2840188" y="711232"/>
                  </a:lnTo>
                  <a:lnTo>
                    <a:pt x="2851102" y="695079"/>
                  </a:lnTo>
                  <a:lnTo>
                    <a:pt x="2855111" y="675354"/>
                  </a:lnTo>
                  <a:lnTo>
                    <a:pt x="2855111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2247" y="1971814"/>
              <a:ext cx="71882" cy="7188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2247" y="2161603"/>
              <a:ext cx="71882" cy="71881"/>
            </a:xfrm>
            <a:prstGeom prst="rect">
              <a:avLst/>
            </a:prstGeom>
          </p:spPr>
        </p:pic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Arquitectura</a:t>
            </a:r>
            <a:r>
              <a:rPr spc="-50" dirty="0"/>
              <a:t> </a:t>
            </a:r>
            <a:r>
              <a:rPr spc="-70" dirty="0"/>
              <a:t>Hexagonal</a:t>
            </a:r>
            <a:r>
              <a:rPr spc="-50" dirty="0"/>
              <a:t> </a:t>
            </a:r>
            <a:r>
              <a:rPr spc="-60" dirty="0"/>
              <a:t>(Puertos</a:t>
            </a:r>
            <a:r>
              <a:rPr spc="-45" dirty="0"/>
              <a:t> </a:t>
            </a:r>
            <a:r>
              <a:rPr spc="-40" dirty="0"/>
              <a:t>y</a:t>
            </a:r>
            <a:r>
              <a:rPr spc="-50" dirty="0"/>
              <a:t> </a:t>
            </a:r>
            <a:r>
              <a:rPr spc="-45" dirty="0"/>
              <a:t>Adaptadores)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430" y="644593"/>
            <a:ext cx="551561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000" spc="-80" dirty="0">
                <a:latin typeface="Arial Black"/>
                <a:cs typeface="Arial Black"/>
              </a:rPr>
              <a:t>¿Por</a:t>
            </a:r>
            <a:r>
              <a:rPr sz="1000" spc="-15" dirty="0">
                <a:latin typeface="Arial Black"/>
                <a:cs typeface="Arial Black"/>
              </a:rPr>
              <a:t> </a:t>
            </a:r>
            <a:r>
              <a:rPr sz="1000" spc="-45" dirty="0">
                <a:latin typeface="Arial Black"/>
                <a:cs typeface="Arial Black"/>
              </a:rPr>
              <a:t>qué</a:t>
            </a:r>
            <a:r>
              <a:rPr sz="1000" spc="-15" dirty="0">
                <a:latin typeface="Arial Black"/>
                <a:cs typeface="Arial Black"/>
              </a:rPr>
              <a:t> </a:t>
            </a:r>
            <a:r>
              <a:rPr sz="1000" spc="-100" dirty="0">
                <a:latin typeface="Arial Black"/>
                <a:cs typeface="Arial Black"/>
              </a:rPr>
              <a:t>se</a:t>
            </a:r>
            <a:r>
              <a:rPr sz="1000" spc="-15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Arial Black"/>
                <a:cs typeface="Arial Black"/>
              </a:rPr>
              <a:t>llama</a:t>
            </a:r>
            <a:r>
              <a:rPr sz="1000" spc="-15" dirty="0">
                <a:latin typeface="Arial Black"/>
                <a:cs typeface="Arial Black"/>
              </a:rPr>
              <a:t> </a:t>
            </a:r>
            <a:r>
              <a:rPr sz="1000" spc="-75" dirty="0">
                <a:latin typeface="Arial Black"/>
                <a:cs typeface="Arial Black"/>
              </a:rPr>
              <a:t>”Hexagonal</a:t>
            </a:r>
            <a:r>
              <a:rPr sz="1500" spc="-112" baseline="11111" dirty="0">
                <a:latin typeface="Arial Black"/>
                <a:cs typeface="Arial Black"/>
              </a:rPr>
              <a:t>¿</a:t>
            </a:r>
            <a:r>
              <a:rPr sz="1500" spc="-22" baseline="11111" dirty="0">
                <a:latin typeface="Arial Black"/>
                <a:cs typeface="Arial Black"/>
              </a:rPr>
              <a:t> </a:t>
            </a:r>
            <a:r>
              <a:rPr sz="1000" i="1" dirty="0">
                <a:latin typeface="Arial"/>
                <a:cs typeface="Arial"/>
              </a:rPr>
              <a:t>No</a:t>
            </a:r>
            <a:r>
              <a:rPr sz="1000" i="1" spc="4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significa</a:t>
            </a:r>
            <a:r>
              <a:rPr sz="1000" i="1" spc="3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que</a:t>
            </a:r>
            <a:r>
              <a:rPr sz="1000" i="1" spc="4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tenga</a:t>
            </a:r>
            <a:r>
              <a:rPr sz="1000" i="1" spc="4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6</a:t>
            </a:r>
            <a:r>
              <a:rPr sz="1000" i="1" spc="4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lados.</a:t>
            </a:r>
            <a:r>
              <a:rPr sz="1000" i="1" spc="35" dirty="0">
                <a:latin typeface="Arial"/>
                <a:cs typeface="Arial"/>
              </a:rPr>
              <a:t> </a:t>
            </a:r>
            <a:r>
              <a:rPr sz="1000" spc="-75" dirty="0">
                <a:latin typeface="Arial MT"/>
                <a:cs typeface="Arial MT"/>
              </a:rPr>
              <a:t>Es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una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metáfora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para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indicar </a:t>
            </a:r>
            <a:r>
              <a:rPr sz="1000" dirty="0">
                <a:latin typeface="Arial MT"/>
                <a:cs typeface="Arial MT"/>
              </a:rPr>
              <a:t>que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el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núcleo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puede</a:t>
            </a:r>
            <a:r>
              <a:rPr sz="1000" spc="10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conectarse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00" i="1" spc="13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sistemas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externos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10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través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”Puertos”.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sz="1000" spc="-50" dirty="0">
                <a:latin typeface="Arial Black"/>
                <a:cs typeface="Arial Black"/>
              </a:rPr>
              <a:t>Implementación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50" dirty="0">
                <a:latin typeface="Arial Black"/>
                <a:cs typeface="Arial Black"/>
              </a:rPr>
              <a:t>en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130" dirty="0">
                <a:latin typeface="Arial Black"/>
                <a:cs typeface="Arial Black"/>
              </a:rPr>
              <a:t>NestJS</a:t>
            </a:r>
            <a:r>
              <a:rPr sz="1000" spc="-35" dirty="0">
                <a:latin typeface="Arial Black"/>
                <a:cs typeface="Arial Black"/>
              </a:rPr>
              <a:t> </a:t>
            </a:r>
            <a:r>
              <a:rPr sz="1000" spc="-70" dirty="0">
                <a:latin typeface="Arial Black"/>
                <a:cs typeface="Arial Black"/>
              </a:rPr>
              <a:t>(Separación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Arial Black"/>
                <a:cs typeface="Arial Black"/>
              </a:rPr>
              <a:t>de</a:t>
            </a:r>
            <a:r>
              <a:rPr sz="1000" spc="-40" dirty="0">
                <a:latin typeface="Arial Black"/>
                <a:cs typeface="Arial Black"/>
              </a:rPr>
              <a:t> </a:t>
            </a:r>
            <a:r>
              <a:rPr sz="1000" spc="-10" dirty="0">
                <a:latin typeface="Arial Black"/>
                <a:cs typeface="Arial Black"/>
              </a:rPr>
              <a:t>Intereses):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552" y="1347050"/>
            <a:ext cx="2855595" cy="203835"/>
          </a:xfrm>
          <a:custGeom>
            <a:avLst/>
            <a:gdLst/>
            <a:ahLst/>
            <a:cxnLst/>
            <a:rect l="l" t="t" r="r" b="b"/>
            <a:pathLst>
              <a:path w="2855595" h="203834">
                <a:moveTo>
                  <a:pt x="28043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3698"/>
                </a:lnTo>
                <a:lnTo>
                  <a:pt x="2855111" y="203698"/>
                </a:lnTo>
                <a:lnTo>
                  <a:pt x="2855111" y="50800"/>
                </a:lnTo>
                <a:lnTo>
                  <a:pt x="2851102" y="31075"/>
                </a:lnTo>
                <a:lnTo>
                  <a:pt x="2840188" y="14922"/>
                </a:lnTo>
                <a:lnTo>
                  <a:pt x="2824035" y="4008"/>
                </a:lnTo>
                <a:lnTo>
                  <a:pt x="2804310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353" y="1339150"/>
            <a:ext cx="1401445" cy="2070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sz="1200" spc="-45" dirty="0">
                <a:solidFill>
                  <a:srgbClr val="FFFFFF"/>
                </a:solidFill>
                <a:latin typeface="Arial MT"/>
                <a:cs typeface="Arial MT"/>
              </a:rPr>
              <a:t>El</a:t>
            </a:r>
            <a:r>
              <a:rPr sz="12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Núcleo</a:t>
            </a:r>
            <a:r>
              <a:rPr sz="12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(Dominio)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20" dirty="0"/>
              <a:t>Lógica</a:t>
            </a:r>
            <a:r>
              <a:rPr spc="10" dirty="0"/>
              <a:t> </a:t>
            </a:r>
            <a:r>
              <a:rPr spc="30" dirty="0"/>
              <a:t>pura</a:t>
            </a:r>
            <a:r>
              <a:rPr spc="15" dirty="0"/>
              <a:t> </a:t>
            </a:r>
            <a:r>
              <a:rPr spc="30" dirty="0"/>
              <a:t>de</a:t>
            </a:r>
            <a:r>
              <a:rPr spc="15" dirty="0"/>
              <a:t> </a:t>
            </a:r>
            <a:r>
              <a:rPr spc="30" dirty="0"/>
              <a:t>negocio,</a:t>
            </a:r>
            <a:r>
              <a:rPr spc="10" dirty="0"/>
              <a:t> </a:t>
            </a:r>
            <a:r>
              <a:rPr spc="30" dirty="0"/>
              <a:t>independiente</a:t>
            </a:r>
            <a:r>
              <a:rPr spc="15" dirty="0"/>
              <a:t> </a:t>
            </a:r>
            <a:r>
              <a:rPr spc="30" dirty="0"/>
              <a:t>de</a:t>
            </a:r>
            <a:r>
              <a:rPr spc="15" dirty="0"/>
              <a:t> </a:t>
            </a:r>
            <a:r>
              <a:rPr spc="-25" dirty="0"/>
              <a:t>la </a:t>
            </a:r>
            <a:r>
              <a:rPr spc="-10" dirty="0"/>
              <a:t>tecnología.</a:t>
            </a:r>
          </a:p>
          <a:p>
            <a:pPr marL="265430" marR="989965">
              <a:lnSpc>
                <a:spcPts val="1490"/>
              </a:lnSpc>
              <a:spcBef>
                <a:spcPts val="100"/>
              </a:spcBef>
            </a:pPr>
            <a:r>
              <a:rPr spc="65" dirty="0">
                <a:latin typeface="Georgia"/>
                <a:cs typeface="Georgia"/>
              </a:rPr>
              <a:t>paciente.entidad.ts </a:t>
            </a:r>
            <a:r>
              <a:rPr spc="85" dirty="0">
                <a:latin typeface="Georgia"/>
                <a:cs typeface="Georgia"/>
              </a:rPr>
              <a:t>pacientes.servicio.ts</a:t>
            </a:r>
          </a:p>
        </p:txBody>
      </p:sp>
      <p:sp>
        <p:nvSpPr>
          <p:cNvPr id="13" name="object 13"/>
          <p:cNvSpPr/>
          <p:nvPr/>
        </p:nvSpPr>
        <p:spPr>
          <a:xfrm>
            <a:off x="2871380" y="1339760"/>
            <a:ext cx="2855595" cy="216535"/>
          </a:xfrm>
          <a:custGeom>
            <a:avLst/>
            <a:gdLst/>
            <a:ahLst/>
            <a:cxnLst/>
            <a:rect l="l" t="t" r="r" b="b"/>
            <a:pathLst>
              <a:path w="2855595" h="216534">
                <a:moveTo>
                  <a:pt x="28043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997"/>
                </a:lnTo>
                <a:lnTo>
                  <a:pt x="2855111" y="215997"/>
                </a:lnTo>
                <a:lnTo>
                  <a:pt x="2855111" y="50800"/>
                </a:lnTo>
                <a:lnTo>
                  <a:pt x="2851102" y="31075"/>
                </a:lnTo>
                <a:lnTo>
                  <a:pt x="2840188" y="14922"/>
                </a:lnTo>
                <a:lnTo>
                  <a:pt x="2824035" y="4008"/>
                </a:lnTo>
                <a:lnTo>
                  <a:pt x="2804310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922181" y="1331708"/>
            <a:ext cx="2405380" cy="2070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sz="1200" spc="10" dirty="0">
                <a:solidFill>
                  <a:srgbClr val="FFFFFF"/>
                </a:solidFill>
                <a:latin typeface="Arial MT"/>
                <a:cs typeface="Arial MT"/>
              </a:rPr>
              <a:t>Los</a:t>
            </a:r>
            <a:r>
              <a:rPr sz="120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Arial MT"/>
                <a:cs typeface="Arial MT"/>
              </a:rPr>
              <a:t>Adaptadores</a:t>
            </a:r>
            <a:r>
              <a:rPr sz="120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(Infraestructura)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09481" y="1532426"/>
            <a:ext cx="2618740" cy="7467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Arial MT"/>
                <a:cs typeface="Arial MT"/>
              </a:rPr>
              <a:t>Conectan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el</a:t>
            </a:r>
            <a:r>
              <a:rPr sz="1000" spc="7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núcleo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con</a:t>
            </a:r>
            <a:r>
              <a:rPr sz="1000" spc="7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el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spc="65" dirty="0">
                <a:latin typeface="Arial MT"/>
                <a:cs typeface="Arial MT"/>
              </a:rPr>
              <a:t>mundo</a:t>
            </a:r>
            <a:r>
              <a:rPr sz="1000" spc="7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exterior.</a:t>
            </a:r>
            <a:endParaRPr sz="1000">
              <a:latin typeface="Arial MT"/>
              <a:cs typeface="Arial MT"/>
            </a:endParaRPr>
          </a:p>
          <a:p>
            <a:pPr marL="265430">
              <a:lnSpc>
                <a:spcPts val="1200"/>
              </a:lnSpc>
              <a:spcBef>
                <a:spcPts val="295"/>
              </a:spcBef>
            </a:pPr>
            <a:r>
              <a:rPr sz="1000" spc="-60" dirty="0">
                <a:latin typeface="Arial Black"/>
                <a:cs typeface="Arial Black"/>
              </a:rPr>
              <a:t>Entrada:</a:t>
            </a:r>
            <a:r>
              <a:rPr sz="1000" spc="-35" dirty="0">
                <a:latin typeface="Arial Black"/>
                <a:cs typeface="Arial Black"/>
              </a:rPr>
              <a:t> </a:t>
            </a:r>
            <a:r>
              <a:rPr sz="1000" spc="65" dirty="0">
                <a:latin typeface="Georgia"/>
                <a:cs typeface="Georgia"/>
              </a:rPr>
              <a:t>pacientes.controlador.ts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ts val="1200"/>
              </a:lnSpc>
            </a:pPr>
            <a:r>
              <a:rPr sz="1000" spc="-50" dirty="0">
                <a:latin typeface="Arial MT"/>
                <a:cs typeface="Arial MT"/>
              </a:rPr>
              <a:t>(HTTP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→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 MT"/>
                <a:cs typeface="Arial MT"/>
              </a:rPr>
              <a:t>Servicio).</a:t>
            </a:r>
            <a:endParaRPr sz="10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sz="1000" spc="-75" dirty="0">
                <a:latin typeface="Arial Black"/>
                <a:cs typeface="Arial Black"/>
              </a:rPr>
              <a:t>Salida: </a:t>
            </a:r>
            <a:r>
              <a:rPr sz="1000" dirty="0">
                <a:latin typeface="Arial MT"/>
                <a:cs typeface="Arial MT"/>
              </a:rPr>
              <a:t>TypeORM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(Servicio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→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spc="-25" dirty="0">
                <a:latin typeface="Arial MT"/>
                <a:cs typeface="Arial MT"/>
              </a:rPr>
              <a:t>SQL/RDS).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3830" y="2412782"/>
            <a:ext cx="549465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spc="-60" dirty="0">
                <a:latin typeface="Arial Black"/>
                <a:cs typeface="Arial Black"/>
              </a:rPr>
              <a:t>Beneficio:</a:t>
            </a:r>
            <a:r>
              <a:rPr sz="800" spc="25" dirty="0">
                <a:latin typeface="Arial Black"/>
                <a:cs typeface="Arial Black"/>
              </a:rPr>
              <a:t> </a:t>
            </a:r>
            <a:r>
              <a:rPr sz="800" spc="-35" dirty="0">
                <a:latin typeface="Arial MT"/>
                <a:cs typeface="Arial MT"/>
              </a:rPr>
              <a:t>Si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cambiamos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-70" dirty="0">
                <a:latin typeface="Arial MT"/>
                <a:cs typeface="Arial MT"/>
              </a:rPr>
              <a:t>RDS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por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MongoDB,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solo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cambiamos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el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Adaptador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de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Salida;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la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lógica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de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negocio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(Servicio) </a:t>
            </a:r>
            <a:r>
              <a:rPr sz="800" dirty="0">
                <a:latin typeface="Arial MT"/>
                <a:cs typeface="Arial MT"/>
              </a:rPr>
              <a:t>no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toca.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24" name="object 24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Aparicio</a:t>
            </a:r>
            <a:r>
              <a:rPr spc="75" dirty="0"/>
              <a:t> </a:t>
            </a:r>
            <a:r>
              <a:rPr dirty="0"/>
              <a:t>Llanquipacha</a:t>
            </a:r>
            <a:r>
              <a:rPr spc="295" dirty="0"/>
              <a:t> </a:t>
            </a:r>
            <a:r>
              <a:rPr spc="-10" dirty="0"/>
              <a:t>(COM610)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463444" y="3125761"/>
            <a:ext cx="833119" cy="111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Sistema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Clínico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Dental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500" spc="-2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AWS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Semestre</a:t>
            </a:r>
            <a:r>
              <a:rPr spc="70" dirty="0"/>
              <a:t> </a:t>
            </a:r>
            <a:r>
              <a:rPr dirty="0"/>
              <a:t>2-</a:t>
            </a:r>
            <a:r>
              <a:rPr spc="-20" dirty="0"/>
              <a:t>2025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5562396" y="3125761"/>
            <a:ext cx="142875" cy="111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dirty="0">
                <a:solidFill>
                  <a:srgbClr val="7A0000"/>
                </a:solidFill>
                <a:latin typeface="Arial MT"/>
                <a:cs typeface="Arial MT"/>
              </a:rPr>
              <a:t>6</a:t>
            </a:r>
            <a:r>
              <a:rPr sz="500" spc="-35" dirty="0">
                <a:solidFill>
                  <a:srgbClr val="7A0000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7A0000"/>
                </a:solidFill>
                <a:latin typeface="Arial MT"/>
                <a:cs typeface="Arial MT"/>
              </a:rPr>
              <a:t>/</a:t>
            </a:r>
            <a:r>
              <a:rPr sz="500" spc="-30" dirty="0">
                <a:solidFill>
                  <a:srgbClr val="7A0000"/>
                </a:solidFill>
                <a:latin typeface="Arial MT"/>
                <a:cs typeface="Arial MT"/>
              </a:rPr>
              <a:t> </a:t>
            </a:r>
            <a:r>
              <a:rPr sz="500" spc="-60" dirty="0">
                <a:solidFill>
                  <a:srgbClr val="7A0000"/>
                </a:solidFill>
                <a:latin typeface="Arial MT"/>
                <a:cs typeface="Arial MT"/>
              </a:rPr>
              <a:t>8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75729" y="1122758"/>
            <a:ext cx="5659755" cy="586740"/>
            <a:chOff x="75729" y="1122758"/>
            <a:chExt cx="5659755" cy="5867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1250949"/>
              <a:ext cx="560862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6530" y="1122758"/>
              <a:ext cx="5608955" cy="586740"/>
            </a:xfrm>
            <a:custGeom>
              <a:avLst/>
              <a:gdLst/>
              <a:ahLst/>
              <a:cxnLst/>
              <a:rect l="l" t="t" r="r" b="b"/>
              <a:pathLst>
                <a:path w="5608955" h="586739">
                  <a:moveTo>
                    <a:pt x="5608620" y="0"/>
                  </a:moveTo>
                  <a:lnTo>
                    <a:pt x="0" y="0"/>
                  </a:lnTo>
                  <a:lnTo>
                    <a:pt x="0" y="586547"/>
                  </a:lnTo>
                  <a:lnTo>
                    <a:pt x="5608620" y="586547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729" y="1295231"/>
              <a:ext cx="5608955" cy="363855"/>
            </a:xfrm>
            <a:custGeom>
              <a:avLst/>
              <a:gdLst/>
              <a:ahLst/>
              <a:cxnLst/>
              <a:rect l="l" t="t" r="r" b="b"/>
              <a:pathLst>
                <a:path w="5608955" h="363855">
                  <a:moveTo>
                    <a:pt x="5608620" y="0"/>
                  </a:moveTo>
                  <a:lnTo>
                    <a:pt x="0" y="0"/>
                  </a:lnTo>
                  <a:lnTo>
                    <a:pt x="0" y="312474"/>
                  </a:lnTo>
                  <a:lnTo>
                    <a:pt x="4008" y="332199"/>
                  </a:lnTo>
                  <a:lnTo>
                    <a:pt x="14922" y="348352"/>
                  </a:lnTo>
                  <a:lnTo>
                    <a:pt x="31075" y="359266"/>
                  </a:lnTo>
                  <a:lnTo>
                    <a:pt x="50800" y="363274"/>
                  </a:lnTo>
                  <a:lnTo>
                    <a:pt x="5557820" y="363274"/>
                  </a:lnTo>
                  <a:lnTo>
                    <a:pt x="5577545" y="359266"/>
                  </a:lnTo>
                  <a:lnTo>
                    <a:pt x="5593698" y="348352"/>
                  </a:lnTo>
                  <a:lnTo>
                    <a:pt x="5604612" y="332199"/>
                  </a:lnTo>
                  <a:lnTo>
                    <a:pt x="5608620" y="312474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Demostración</a:t>
            </a:r>
            <a:r>
              <a:rPr spc="-55" dirty="0"/>
              <a:t> </a:t>
            </a:r>
            <a:r>
              <a:rPr spc="-75" dirty="0"/>
              <a:t>de</a:t>
            </a:r>
            <a:r>
              <a:rPr spc="-55" dirty="0"/>
              <a:t> </a:t>
            </a:r>
            <a:r>
              <a:rPr spc="-85" dirty="0"/>
              <a:t>Resiliencia</a:t>
            </a:r>
            <a:r>
              <a:rPr spc="-55" dirty="0"/>
              <a:t> </a:t>
            </a:r>
            <a:r>
              <a:rPr spc="-40" dirty="0"/>
              <a:t>y</a:t>
            </a:r>
            <a:r>
              <a:rPr spc="-55" dirty="0"/>
              <a:t> </a:t>
            </a:r>
            <a:r>
              <a:rPr spc="-65" dirty="0"/>
              <a:t>Escalabilidad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0" y="643132"/>
            <a:ext cx="526732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latin typeface="Arial Black"/>
                <a:cs typeface="Arial Black"/>
              </a:rPr>
              <a:t>Prueba</a:t>
            </a:r>
            <a:r>
              <a:rPr sz="1000" spc="35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Arial Black"/>
                <a:cs typeface="Arial Black"/>
              </a:rPr>
              <a:t>de</a:t>
            </a:r>
            <a:r>
              <a:rPr sz="1000" spc="35" dirty="0">
                <a:latin typeface="Arial Black"/>
                <a:cs typeface="Arial Black"/>
              </a:rPr>
              <a:t> </a:t>
            </a:r>
            <a:r>
              <a:rPr sz="1000" spc="-70" dirty="0">
                <a:latin typeface="Arial Black"/>
                <a:cs typeface="Arial Black"/>
              </a:rPr>
              <a:t>Carga</a:t>
            </a:r>
            <a:r>
              <a:rPr sz="1000" spc="40" dirty="0">
                <a:latin typeface="Arial Black"/>
                <a:cs typeface="Arial Black"/>
              </a:rPr>
              <a:t> </a:t>
            </a:r>
            <a:r>
              <a:rPr sz="1000" spc="-90" dirty="0">
                <a:latin typeface="Arial Black"/>
                <a:cs typeface="Arial Black"/>
              </a:rPr>
              <a:t>(Stress</a:t>
            </a:r>
            <a:r>
              <a:rPr sz="1000" spc="35" dirty="0">
                <a:latin typeface="Arial Black"/>
                <a:cs typeface="Arial Black"/>
              </a:rPr>
              <a:t> </a:t>
            </a:r>
            <a:r>
              <a:rPr sz="1000" spc="-75" dirty="0">
                <a:latin typeface="Arial Black"/>
                <a:cs typeface="Arial Black"/>
              </a:rPr>
              <a:t>Testing)</a:t>
            </a:r>
            <a:r>
              <a:rPr sz="1000" spc="35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Arial MT"/>
                <a:cs typeface="Arial MT"/>
              </a:rPr>
              <a:t>Se</a:t>
            </a:r>
            <a:r>
              <a:rPr sz="1000" spc="9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utilizó</a:t>
            </a:r>
            <a:r>
              <a:rPr sz="1000" spc="9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la</a:t>
            </a:r>
            <a:r>
              <a:rPr sz="1000" spc="9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herramienta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spc="90" dirty="0">
                <a:latin typeface="Georgia"/>
                <a:cs typeface="Georgia"/>
              </a:rPr>
              <a:t>stress</a:t>
            </a:r>
            <a:r>
              <a:rPr sz="1000" spc="125" dirty="0">
                <a:latin typeface="Georgia"/>
                <a:cs typeface="Georgia"/>
              </a:rPr>
              <a:t> </a:t>
            </a:r>
            <a:r>
              <a:rPr sz="1000" dirty="0">
                <a:latin typeface="Arial MT"/>
                <a:cs typeface="Arial MT"/>
              </a:rPr>
              <a:t>para</a:t>
            </a:r>
            <a:r>
              <a:rPr sz="1000" spc="9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simular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picos</a:t>
            </a:r>
            <a:r>
              <a:rPr sz="1000" spc="9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de </a:t>
            </a:r>
            <a:r>
              <a:rPr sz="1000" spc="10" dirty="0">
                <a:latin typeface="Arial MT"/>
                <a:cs typeface="Arial MT"/>
              </a:rPr>
              <a:t>tráfico</a:t>
            </a:r>
            <a:r>
              <a:rPr sz="1000" spc="80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y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disparar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el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Auto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Scaling.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729" y="1065821"/>
            <a:ext cx="5608955" cy="198120"/>
          </a:xfrm>
          <a:custGeom>
            <a:avLst/>
            <a:gdLst/>
            <a:ahLst/>
            <a:cxnLst/>
            <a:rect l="l" t="t" r="r" b="b"/>
            <a:pathLst>
              <a:path w="5608955" h="198119">
                <a:moveTo>
                  <a:pt x="555782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7777"/>
                </a:lnTo>
                <a:lnTo>
                  <a:pt x="5608620" y="197777"/>
                </a:lnTo>
                <a:lnTo>
                  <a:pt x="5608620" y="50800"/>
                </a:lnTo>
                <a:lnTo>
                  <a:pt x="5604612" y="31075"/>
                </a:lnTo>
                <a:lnTo>
                  <a:pt x="5593698" y="14922"/>
                </a:lnTo>
                <a:lnTo>
                  <a:pt x="5577545" y="4008"/>
                </a:lnTo>
                <a:lnTo>
                  <a:pt x="5557820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530" y="1057007"/>
            <a:ext cx="1464945" cy="2070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Comando</a:t>
            </a:r>
            <a:r>
              <a:rPr sz="1200" spc="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200" spc="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Prueba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42" y="1378737"/>
            <a:ext cx="5588000" cy="157480"/>
          </a:xfrm>
          <a:prstGeom prst="rect">
            <a:avLst/>
          </a:prstGeom>
          <a:solidFill>
            <a:srgbClr val="F2F2F2"/>
          </a:solidFill>
          <a:ln w="505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235"/>
              </a:spcBef>
            </a:pPr>
            <a:r>
              <a:rPr sz="500" spc="70" dirty="0">
                <a:latin typeface="Cambria"/>
                <a:cs typeface="Cambria"/>
              </a:rPr>
              <a:t>stress</a:t>
            </a:r>
            <a:r>
              <a:rPr sz="500" spc="265" dirty="0">
                <a:latin typeface="Cambria"/>
                <a:cs typeface="Cambria"/>
              </a:rPr>
              <a:t> </a:t>
            </a:r>
            <a:r>
              <a:rPr sz="500" spc="125" dirty="0">
                <a:latin typeface="Cambria"/>
                <a:cs typeface="Cambria"/>
              </a:rPr>
              <a:t>-</a:t>
            </a:r>
            <a:r>
              <a:rPr sz="500" spc="135" dirty="0">
                <a:latin typeface="Cambria"/>
                <a:cs typeface="Cambria"/>
              </a:rPr>
              <a:t>-</a:t>
            </a:r>
            <a:r>
              <a:rPr sz="500" dirty="0">
                <a:latin typeface="Cambria"/>
                <a:cs typeface="Cambria"/>
              </a:rPr>
              <a:t>cpu</a:t>
            </a:r>
            <a:r>
              <a:rPr sz="500" spc="254" dirty="0">
                <a:latin typeface="Cambria"/>
                <a:cs typeface="Cambria"/>
              </a:rPr>
              <a:t> </a:t>
            </a:r>
            <a:r>
              <a:rPr sz="500" dirty="0">
                <a:latin typeface="Cambria"/>
                <a:cs typeface="Cambria"/>
              </a:rPr>
              <a:t>2</a:t>
            </a:r>
            <a:r>
              <a:rPr sz="500" spc="250" dirty="0">
                <a:latin typeface="Cambria"/>
                <a:cs typeface="Cambria"/>
              </a:rPr>
              <a:t> </a:t>
            </a:r>
            <a:r>
              <a:rPr sz="500" spc="125" dirty="0">
                <a:latin typeface="Cambria"/>
                <a:cs typeface="Cambria"/>
              </a:rPr>
              <a:t>-</a:t>
            </a:r>
            <a:r>
              <a:rPr sz="500" spc="140" dirty="0">
                <a:latin typeface="Cambria"/>
                <a:cs typeface="Cambria"/>
              </a:rPr>
              <a:t>-</a:t>
            </a:r>
            <a:r>
              <a:rPr sz="500" spc="45" dirty="0">
                <a:latin typeface="Cambria"/>
                <a:cs typeface="Cambria"/>
              </a:rPr>
              <a:t>timeout</a:t>
            </a:r>
            <a:r>
              <a:rPr sz="500" spc="265" dirty="0">
                <a:latin typeface="Cambria"/>
                <a:cs typeface="Cambria"/>
              </a:rPr>
              <a:t> </a:t>
            </a:r>
            <a:r>
              <a:rPr sz="500" spc="-25" dirty="0">
                <a:latin typeface="Cambria"/>
                <a:cs typeface="Cambria"/>
              </a:rPr>
              <a:t>600</a:t>
            </a:r>
            <a:endParaRPr sz="500" dirty="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830" y="1721768"/>
            <a:ext cx="7575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latin typeface="Arial Black"/>
                <a:cs typeface="Arial Black"/>
              </a:rPr>
              <a:t>Resultados:</a:t>
            </a:r>
            <a:endParaRPr sz="1000">
              <a:latin typeface="Arial Black"/>
              <a:cs typeface="Arial Black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597" y="1943798"/>
            <a:ext cx="125793" cy="12579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17703" y="1946994"/>
            <a:ext cx="6159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877" y="1873612"/>
            <a:ext cx="5047615" cy="7467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Arial MT"/>
                <a:cs typeface="Arial MT"/>
              </a:rPr>
              <a:t>CloudWatch</a:t>
            </a:r>
            <a:r>
              <a:rPr sz="1000" spc="8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detectó</a:t>
            </a:r>
            <a:r>
              <a:rPr sz="1000" spc="80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CPU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i="1" spc="-50" dirty="0">
                <a:latin typeface="Verdana"/>
                <a:cs typeface="Verdana"/>
              </a:rPr>
              <a:t>&gt;</a:t>
            </a:r>
            <a:r>
              <a:rPr sz="1000" i="1" spc="35" dirty="0">
                <a:latin typeface="Verdana"/>
                <a:cs typeface="Verdana"/>
              </a:rPr>
              <a:t> </a:t>
            </a:r>
            <a:r>
              <a:rPr sz="1000" spc="-25" dirty="0">
                <a:latin typeface="Calibri"/>
                <a:cs typeface="Calibri"/>
              </a:rPr>
              <a:t>40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%</a:t>
            </a:r>
            <a:r>
              <a:rPr sz="1000" spc="-25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Arial MT"/>
                <a:cs typeface="Arial MT"/>
              </a:rPr>
              <a:t>El</a:t>
            </a:r>
            <a:r>
              <a:rPr sz="1000" spc="14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ASG</a:t>
            </a:r>
            <a:r>
              <a:rPr sz="1000" spc="1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lanzó</a:t>
            </a:r>
            <a:r>
              <a:rPr sz="1000" spc="1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nuevas</a:t>
            </a:r>
            <a:r>
              <a:rPr sz="1000" spc="1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instancias</a:t>
            </a:r>
            <a:r>
              <a:rPr sz="1000" spc="1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automáticamente</a:t>
            </a:r>
            <a:r>
              <a:rPr sz="1000" spc="14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(Scale</a:t>
            </a:r>
            <a:r>
              <a:rPr sz="1000" spc="1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Out).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90"/>
              </a:spcBef>
            </a:pPr>
            <a:r>
              <a:rPr sz="1000" spc="-35" dirty="0">
                <a:latin typeface="Arial MT"/>
                <a:cs typeface="Arial MT"/>
              </a:rPr>
              <a:t>El</a:t>
            </a:r>
            <a:r>
              <a:rPr sz="1000" spc="9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ALB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distribuyó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el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tráfico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entre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las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nuevas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instancias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sin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spc="60" dirty="0">
                <a:latin typeface="Arial MT"/>
                <a:cs typeface="Arial MT"/>
              </a:rPr>
              <a:t>interrumpir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el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servicio</a:t>
            </a:r>
            <a:r>
              <a:rPr sz="1000" spc="9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(Alta Disponibilidad).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597" y="2133587"/>
            <a:ext cx="125793" cy="12579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17703" y="2137101"/>
            <a:ext cx="6159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597" y="2323376"/>
            <a:ext cx="125793" cy="12579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17703" y="2326572"/>
            <a:ext cx="6159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20" name="object 20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Aparicio</a:t>
            </a:r>
            <a:r>
              <a:rPr spc="75" dirty="0"/>
              <a:t> </a:t>
            </a:r>
            <a:r>
              <a:rPr dirty="0"/>
              <a:t>Llanquipacha</a:t>
            </a:r>
            <a:r>
              <a:rPr spc="295" dirty="0"/>
              <a:t> </a:t>
            </a:r>
            <a:r>
              <a:rPr spc="-10" dirty="0"/>
              <a:t>(COM610)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63444" y="3125761"/>
            <a:ext cx="833119" cy="111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Sistema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Clínico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Dental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500" spc="-2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AWS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Semestre</a:t>
            </a:r>
            <a:r>
              <a:rPr spc="70" dirty="0"/>
              <a:t> </a:t>
            </a:r>
            <a:r>
              <a:rPr dirty="0"/>
              <a:t>2-</a:t>
            </a:r>
            <a:r>
              <a:rPr spc="-20" dirty="0"/>
              <a:t>2025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7</a:t>
            </a:fld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5" dirty="0"/>
              <a:t>Conclusiones</a:t>
            </a:r>
            <a:r>
              <a:rPr spc="-45" dirty="0"/>
              <a:t> </a:t>
            </a:r>
            <a:r>
              <a:rPr spc="-40" dirty="0"/>
              <a:t>y</a:t>
            </a:r>
            <a:r>
              <a:rPr spc="-45" dirty="0"/>
              <a:t> </a:t>
            </a:r>
            <a:r>
              <a:rPr spc="-55" dirty="0"/>
              <a:t>Aprendizajes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424" y="933284"/>
            <a:ext cx="71882" cy="7188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424" y="1426730"/>
            <a:ext cx="71882" cy="718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424" y="1768348"/>
            <a:ext cx="71882" cy="7188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3830" y="640721"/>
            <a:ext cx="5501005" cy="1863089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55" dirty="0">
                <a:latin typeface="Arial Black"/>
                <a:cs typeface="Arial Black"/>
              </a:rPr>
              <a:t>Impacto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Arial Black"/>
                <a:cs typeface="Arial Black"/>
              </a:rPr>
              <a:t>de la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40" dirty="0">
                <a:latin typeface="Arial Black"/>
                <a:cs typeface="Arial Black"/>
              </a:rPr>
              <a:t>Nube</a:t>
            </a:r>
            <a:r>
              <a:rPr sz="1000" spc="-55" dirty="0">
                <a:latin typeface="Arial Black"/>
                <a:cs typeface="Arial Black"/>
              </a:rPr>
              <a:t> </a:t>
            </a:r>
            <a:r>
              <a:rPr sz="1000" spc="-75" dirty="0">
                <a:latin typeface="Arial Black"/>
                <a:cs typeface="Arial Black"/>
              </a:rPr>
              <a:t>vs.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45" dirty="0">
                <a:latin typeface="Arial Black"/>
                <a:cs typeface="Arial Black"/>
              </a:rPr>
              <a:t>On-</a:t>
            </a:r>
            <a:r>
              <a:rPr sz="1000" spc="-10" dirty="0">
                <a:latin typeface="Arial Black"/>
                <a:cs typeface="Arial Black"/>
              </a:rPr>
              <a:t>Premise</a:t>
            </a:r>
            <a:endParaRPr sz="1000">
              <a:latin typeface="Arial Black"/>
              <a:cs typeface="Arial Black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sz="1000" spc="-70" dirty="0">
                <a:latin typeface="Arial Black"/>
                <a:cs typeface="Arial Black"/>
              </a:rPr>
              <a:t>Costo-</a:t>
            </a:r>
            <a:r>
              <a:rPr sz="1000" spc="-65" dirty="0">
                <a:latin typeface="Arial Black"/>
                <a:cs typeface="Arial Black"/>
              </a:rPr>
              <a:t>Efectividad:</a:t>
            </a:r>
            <a:r>
              <a:rPr sz="1000" spc="50" dirty="0">
                <a:latin typeface="Arial Black"/>
                <a:cs typeface="Arial Black"/>
              </a:rPr>
              <a:t> </a:t>
            </a:r>
            <a:r>
              <a:rPr sz="1000" spc="-35" dirty="0">
                <a:latin typeface="Arial MT"/>
                <a:cs typeface="Arial MT"/>
              </a:rPr>
              <a:t>El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uso</a:t>
            </a:r>
            <a:r>
              <a:rPr sz="1000" spc="10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instancias</a:t>
            </a:r>
            <a:r>
              <a:rPr sz="1000" spc="10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pequeñas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gestionadas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spc="60" dirty="0">
                <a:latin typeface="Arial MT"/>
                <a:cs typeface="Arial MT"/>
              </a:rPr>
              <a:t>por</a:t>
            </a:r>
            <a:r>
              <a:rPr sz="1000" spc="10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PM2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maximiza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el</a:t>
            </a:r>
            <a:r>
              <a:rPr sz="1000" spc="10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uso </a:t>
            </a:r>
            <a:r>
              <a:rPr sz="1000" spc="20" dirty="0">
                <a:latin typeface="Arial MT"/>
                <a:cs typeface="Arial MT"/>
              </a:rPr>
              <a:t>de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la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capa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gratuita,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evitando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el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overhead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de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contenedores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pesados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en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entornos</a:t>
            </a:r>
            <a:r>
              <a:rPr sz="1000" spc="5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limitados.</a:t>
            </a:r>
            <a:endParaRPr sz="1000">
              <a:latin typeface="Arial MT"/>
              <a:cs typeface="Arial MT"/>
            </a:endParaRPr>
          </a:p>
          <a:p>
            <a:pPr marL="265430" marR="527050">
              <a:lnSpc>
                <a:spcPct val="100000"/>
              </a:lnSpc>
              <a:spcBef>
                <a:spcPts val="284"/>
              </a:spcBef>
            </a:pPr>
            <a:r>
              <a:rPr sz="1000" spc="-60" dirty="0">
                <a:latin typeface="Arial Black"/>
                <a:cs typeface="Arial Black"/>
              </a:rPr>
              <a:t>Seguridad</a:t>
            </a:r>
            <a:r>
              <a:rPr sz="1000" spc="5" dirty="0">
                <a:latin typeface="Arial Black"/>
                <a:cs typeface="Arial Black"/>
              </a:rPr>
              <a:t> </a:t>
            </a:r>
            <a:r>
              <a:rPr sz="1000" spc="-65" dirty="0">
                <a:latin typeface="Arial Black"/>
                <a:cs typeface="Arial Black"/>
              </a:rPr>
              <a:t>Robusta:</a:t>
            </a:r>
            <a:r>
              <a:rPr sz="1000" spc="10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La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base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datos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y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el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backend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son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invisibles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para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internet, </a:t>
            </a:r>
            <a:r>
              <a:rPr sz="1000" spc="20" dirty="0">
                <a:latin typeface="Arial MT"/>
                <a:cs typeface="Arial MT"/>
              </a:rPr>
              <a:t>reduciendo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drásticamente</a:t>
            </a:r>
            <a:r>
              <a:rPr sz="1000" spc="75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la</a:t>
            </a:r>
            <a:r>
              <a:rPr sz="1000" spc="75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superficie</a:t>
            </a:r>
            <a:r>
              <a:rPr sz="1000" spc="75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de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ataque.</a:t>
            </a:r>
            <a:endParaRPr sz="1000">
              <a:latin typeface="Arial MT"/>
              <a:cs typeface="Arial MT"/>
            </a:endParaRPr>
          </a:p>
          <a:p>
            <a:pPr marL="265430" marR="44450">
              <a:lnSpc>
                <a:spcPct val="100000"/>
              </a:lnSpc>
              <a:spcBef>
                <a:spcPts val="290"/>
              </a:spcBef>
            </a:pPr>
            <a:r>
              <a:rPr sz="1000" spc="-75" dirty="0">
                <a:latin typeface="Arial Black"/>
                <a:cs typeface="Arial Black"/>
              </a:rPr>
              <a:t>Experiencia</a:t>
            </a:r>
            <a:r>
              <a:rPr sz="1000" spc="75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Arial Black"/>
                <a:cs typeface="Arial Black"/>
              </a:rPr>
              <a:t>de</a:t>
            </a:r>
            <a:r>
              <a:rPr sz="1000" spc="75" dirty="0">
                <a:latin typeface="Arial Black"/>
                <a:cs typeface="Arial Black"/>
              </a:rPr>
              <a:t> </a:t>
            </a:r>
            <a:r>
              <a:rPr sz="1000" spc="-60" dirty="0">
                <a:latin typeface="Arial Black"/>
                <a:cs typeface="Arial Black"/>
              </a:rPr>
              <a:t>Usuario:</a:t>
            </a:r>
            <a:r>
              <a:rPr sz="1000" spc="80" dirty="0">
                <a:latin typeface="Arial Black"/>
                <a:cs typeface="Arial Black"/>
              </a:rPr>
              <a:t> </a:t>
            </a:r>
            <a:r>
              <a:rPr sz="1000" dirty="0">
                <a:latin typeface="Arial MT"/>
                <a:cs typeface="Arial MT"/>
              </a:rPr>
              <a:t>La</a:t>
            </a:r>
            <a:r>
              <a:rPr sz="1000" spc="1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integración</a:t>
            </a:r>
            <a:r>
              <a:rPr sz="1000" spc="1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</a:t>
            </a:r>
            <a:r>
              <a:rPr sz="1000" spc="1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CloudFront</a:t>
            </a:r>
            <a:r>
              <a:rPr sz="1000" spc="1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soluciona</a:t>
            </a:r>
            <a:r>
              <a:rPr sz="1000" spc="1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problemas</a:t>
            </a:r>
            <a:r>
              <a:rPr sz="1000" spc="1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</a:t>
            </a:r>
            <a:r>
              <a:rPr sz="1000" spc="1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latencia </a:t>
            </a:r>
            <a:r>
              <a:rPr sz="1000" dirty="0">
                <a:latin typeface="Arial MT"/>
                <a:cs typeface="Arial MT"/>
              </a:rPr>
              <a:t>y</a:t>
            </a:r>
            <a:r>
              <a:rPr sz="1000" spc="18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gestiona</a:t>
            </a:r>
            <a:r>
              <a:rPr sz="1000" spc="18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certificados</a:t>
            </a:r>
            <a:r>
              <a:rPr sz="1000" spc="185" dirty="0">
                <a:latin typeface="Arial MT"/>
                <a:cs typeface="Arial MT"/>
              </a:rPr>
              <a:t> </a:t>
            </a:r>
            <a:r>
              <a:rPr sz="1000" spc="-95" dirty="0">
                <a:latin typeface="Arial MT"/>
                <a:cs typeface="Arial MT"/>
              </a:rPr>
              <a:t>SSL</a:t>
            </a:r>
            <a:r>
              <a:rPr sz="1000" spc="18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globalmente,</a:t>
            </a:r>
            <a:r>
              <a:rPr sz="1000" spc="18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eliminando</a:t>
            </a:r>
            <a:r>
              <a:rPr sz="1000" spc="18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los</a:t>
            </a:r>
            <a:r>
              <a:rPr sz="1000" spc="18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errores</a:t>
            </a:r>
            <a:r>
              <a:rPr sz="1000" spc="18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</a:t>
            </a:r>
            <a:r>
              <a:rPr sz="1000" spc="18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”Mixed</a:t>
            </a:r>
            <a:r>
              <a:rPr sz="1000" spc="18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Content”.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000">
              <a:latin typeface="Arial MT"/>
              <a:cs typeface="Arial MT"/>
            </a:endParaRPr>
          </a:p>
          <a:p>
            <a:pPr marL="31115" algn="ctr">
              <a:lnSpc>
                <a:spcPct val="100000"/>
              </a:lnSpc>
              <a:spcBef>
                <a:spcPts val="5"/>
              </a:spcBef>
            </a:pPr>
            <a:r>
              <a:rPr sz="1000" spc="-85" dirty="0">
                <a:latin typeface="Arial Black"/>
                <a:cs typeface="Arial Black"/>
              </a:rPr>
              <a:t>¡Gracias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35" dirty="0">
                <a:latin typeface="Arial Black"/>
                <a:cs typeface="Arial Black"/>
              </a:rPr>
              <a:t>por</a:t>
            </a:r>
            <a:r>
              <a:rPr sz="1000" spc="-55" dirty="0">
                <a:latin typeface="Arial Black"/>
                <a:cs typeface="Arial Black"/>
              </a:rPr>
              <a:t> </a:t>
            </a:r>
            <a:r>
              <a:rPr sz="1000" spc="-65" dirty="0">
                <a:latin typeface="Arial Black"/>
                <a:cs typeface="Arial Black"/>
              </a:rPr>
              <a:t>su</a:t>
            </a:r>
            <a:r>
              <a:rPr sz="1000" spc="-55" dirty="0">
                <a:latin typeface="Arial Black"/>
                <a:cs typeface="Arial Black"/>
              </a:rPr>
              <a:t> </a:t>
            </a:r>
            <a:r>
              <a:rPr sz="1000" spc="-10" dirty="0">
                <a:latin typeface="Arial Black"/>
                <a:cs typeface="Arial Black"/>
              </a:rPr>
              <a:t>atención!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8" name="object 8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Aparicio</a:t>
            </a:r>
            <a:r>
              <a:rPr spc="75" dirty="0"/>
              <a:t> </a:t>
            </a:r>
            <a:r>
              <a:rPr dirty="0"/>
              <a:t>Llanquipacha</a:t>
            </a:r>
            <a:r>
              <a:rPr spc="295" dirty="0"/>
              <a:t> </a:t>
            </a:r>
            <a:r>
              <a:rPr spc="-10" dirty="0"/>
              <a:t>(COM610)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63444" y="3125761"/>
            <a:ext cx="833119" cy="111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Sistema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Clínico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50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Dental</a:t>
            </a:r>
            <a:r>
              <a:rPr sz="500" spc="4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500" spc="-25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AWS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Semestre</a:t>
            </a:r>
            <a:r>
              <a:rPr spc="70" dirty="0"/>
              <a:t> </a:t>
            </a:r>
            <a:r>
              <a:rPr dirty="0"/>
              <a:t>2-</a:t>
            </a:r>
            <a:r>
              <a:rPr spc="-20" dirty="0"/>
              <a:t>2025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8</a:t>
            </a:fld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E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770</Words>
  <Application>Microsoft Office PowerPoint</Application>
  <PresentationFormat>Personalizado</PresentationFormat>
  <Paragraphs>109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7" baseType="lpstr">
      <vt:lpstr>Arial</vt:lpstr>
      <vt:lpstr>Arial Black</vt:lpstr>
      <vt:lpstr>Arial MT</vt:lpstr>
      <vt:lpstr>Calibri</vt:lpstr>
      <vt:lpstr>Cambria</vt:lpstr>
      <vt:lpstr>Georgia</vt:lpstr>
      <vt:lpstr>Times New Roman</vt:lpstr>
      <vt:lpstr>Verdana</vt:lpstr>
      <vt:lpstr>Office Theme</vt:lpstr>
      <vt:lpstr>Presentación de PowerPoint</vt:lpstr>
      <vt:lpstr>Objetivo del Proyecto y Propuesta de Valor</vt:lpstr>
      <vt:lpstr>Diseño Esquemático de la Arquitectura</vt:lpstr>
      <vt:lpstr>Temas y Conceptos Aplicados</vt:lpstr>
      <vt:lpstr>Estrategia de Seguridad y Automatización</vt:lpstr>
      <vt:lpstr>Arquitectura Hexagonal (Puertos y Adaptadores)</vt:lpstr>
      <vt:lpstr>Demostración de Resiliencia y Escalabilidad</vt:lpstr>
      <vt:lpstr>Conclusiones y Aprendizajes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Despliegue de Sistema Clínico Dental Escalable en AWS - Arquitectura Hexagonal y Alta Disponibilidad</dc:title>
  <dc:creator>Aparicio Llanquipacha Gabriel  Grupo 1</dc:creator>
  <cp:lastModifiedBy>Gabriel Aparicio Llanquipacha</cp:lastModifiedBy>
  <cp:revision>1</cp:revision>
  <dcterms:created xsi:type="dcterms:W3CDTF">2025-12-03T20:51:33Z</dcterms:created>
  <dcterms:modified xsi:type="dcterms:W3CDTF">2025-12-03T20:54:21Z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2025-12-03T00:00:00Z</vt:filetime>
  </property>
  <property fmtid="{D5CDD505-2E9C-101B-9397-08002B2CF9AE}" pid="5" name="PTEX.FullBanner">
    <vt:lpwstr>This is LuaHBTeX, Version 1.22.0 (TeX Live 2025)</vt:lpwstr>
  </property>
  <property fmtid="{D5CDD505-2E9C-101B-9397-08002B2CF9AE}" pid="6" name="Producer">
    <vt:lpwstr>LuaTeX-1.22.0</vt:lpwstr>
  </property>
</Properties>
</file>